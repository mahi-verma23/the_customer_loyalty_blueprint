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Bricolage Grotesque" charset="1" panose="020B0605040402000204"/>
      <p:regular r:id="rId17"/>
    </p:embeddedFont>
    <p:embeddedFont>
      <p:font typeface="Poppins" charset="1" panose="00000500000000000000"/>
      <p:regular r:id="rId18"/>
    </p:embeddedFont>
    <p:embeddedFont>
      <p:font typeface="Poppins Bold" charset="1" panose="00000800000000000000"/>
      <p:regular r:id="rId19"/>
    </p:embeddedFont>
    <p:embeddedFont>
      <p:font typeface="Canva Sans Bold Italics" charset="1" panose="020B0803030501040103"/>
      <p:regular r:id="rId20"/>
    </p:embeddedFont>
    <p:embeddedFont>
      <p:font typeface="Bricolage Grotesque Bold" charset="1" panose="020B0605040402000204"/>
      <p:regular r:id="rId21"/>
    </p:embeddedFont>
    <p:embeddedFont>
      <p:font typeface="Poppins Italics" charset="1" panose="0000050000000000000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png" Type="http://schemas.openxmlformats.org/officeDocument/2006/relationships/image"/><Relationship Id="rId4" Target="../media/image10.png" Type="http://schemas.openxmlformats.org/officeDocument/2006/relationships/image"/><Relationship Id="rId5" Target="../media/image11.png" Type="http://schemas.openxmlformats.org/officeDocument/2006/relationships/image"/><Relationship Id="rId6" Target="../media/image1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3.pn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6.png" Type="http://schemas.openxmlformats.org/officeDocument/2006/relationships/image"/><Relationship Id="rId5" Target="../media/image17.svg" Type="http://schemas.openxmlformats.org/officeDocument/2006/relationships/image"/><Relationship Id="rId6" Target="../media/image1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7.png" Type="http://schemas.openxmlformats.org/officeDocument/2006/relationships/image"/><Relationship Id="rId2" Target="../media/image19.png" Type="http://schemas.openxmlformats.org/officeDocument/2006/relationships/image"/><Relationship Id="rId3" Target="../media/image20.png" Type="http://schemas.openxmlformats.org/officeDocument/2006/relationships/image"/><Relationship Id="rId4" Target="../media/image21.png" Type="http://schemas.openxmlformats.org/officeDocument/2006/relationships/image"/><Relationship Id="rId5" Target="../media/image22.svg" Type="http://schemas.openxmlformats.org/officeDocument/2006/relationships/image"/><Relationship Id="rId6" Target="../media/image23.png" Type="http://schemas.openxmlformats.org/officeDocument/2006/relationships/image"/><Relationship Id="rId7" Target="../media/image24.svg" Type="http://schemas.openxmlformats.org/officeDocument/2006/relationships/image"/><Relationship Id="rId8" Target="../media/image25.png" Type="http://schemas.openxmlformats.org/officeDocument/2006/relationships/image"/><Relationship Id="rId9" Target="../media/image26.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29.png" Type="http://schemas.openxmlformats.org/officeDocument/2006/relationships/image"/><Relationship Id="rId5" Target="../media/image30.png" Type="http://schemas.openxmlformats.org/officeDocument/2006/relationships/image"/><Relationship Id="rId6" Target="../media/image31.png" Type="http://schemas.openxmlformats.org/officeDocument/2006/relationships/image"/><Relationship Id="rId7" Target="../media/image32.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3.png" Type="http://schemas.openxmlformats.org/officeDocument/2006/relationships/image"/><Relationship Id="rId3" Target="../media/image19.png" Type="http://schemas.openxmlformats.org/officeDocument/2006/relationships/image"/><Relationship Id="rId4" Target="../media/image34.png" Type="http://schemas.openxmlformats.org/officeDocument/2006/relationships/image"/><Relationship Id="rId5" Target="../media/image35.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36.png" Type="http://schemas.openxmlformats.org/officeDocument/2006/relationships/image"/><Relationship Id="rId5" Target="../media/image37.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2415882" cy="10287000"/>
            <a:chOff x="0" y="0"/>
            <a:chExt cx="636282" cy="2709333"/>
          </a:xfrm>
        </p:grpSpPr>
        <p:sp>
          <p:nvSpPr>
            <p:cNvPr name="Freeform 3" id="3"/>
            <p:cNvSpPr/>
            <p:nvPr/>
          </p:nvSpPr>
          <p:spPr>
            <a:xfrm flipH="false" flipV="false" rot="0">
              <a:off x="0" y="0"/>
              <a:ext cx="636282" cy="2709333"/>
            </a:xfrm>
            <a:custGeom>
              <a:avLst/>
              <a:gdLst/>
              <a:ahLst/>
              <a:cxnLst/>
              <a:rect r="r" b="b" t="t" l="l"/>
              <a:pathLst>
                <a:path h="2709333" w="636282">
                  <a:moveTo>
                    <a:pt x="0" y="0"/>
                  </a:moveTo>
                  <a:lnTo>
                    <a:pt x="636282" y="0"/>
                  </a:lnTo>
                  <a:lnTo>
                    <a:pt x="636282" y="2709333"/>
                  </a:lnTo>
                  <a:lnTo>
                    <a:pt x="0" y="2709333"/>
                  </a:ln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p:spPr>
        </p:sp>
        <p:sp>
          <p:nvSpPr>
            <p:cNvPr name="TextBox 4" id="4"/>
            <p:cNvSpPr txBox="true"/>
            <p:nvPr/>
          </p:nvSpPr>
          <p:spPr>
            <a:xfrm>
              <a:off x="0" y="-38100"/>
              <a:ext cx="636282" cy="274743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5" id="5"/>
          <p:cNvSpPr/>
          <p:nvPr/>
        </p:nvSpPr>
        <p:spPr>
          <a:xfrm flipH="false" flipV="false" rot="0">
            <a:off x="8433901" y="1583437"/>
            <a:ext cx="9571404" cy="13056376"/>
          </a:xfrm>
          <a:custGeom>
            <a:avLst/>
            <a:gdLst/>
            <a:ahLst/>
            <a:cxnLst/>
            <a:rect r="r" b="b" t="t" l="l"/>
            <a:pathLst>
              <a:path h="13056376" w="9571404">
                <a:moveTo>
                  <a:pt x="0" y="0"/>
                </a:moveTo>
                <a:lnTo>
                  <a:pt x="9571404" y="0"/>
                </a:lnTo>
                <a:lnTo>
                  <a:pt x="9571404" y="13056377"/>
                </a:lnTo>
                <a:lnTo>
                  <a:pt x="0" y="13056377"/>
                </a:lnTo>
                <a:lnTo>
                  <a:pt x="0" y="0"/>
                </a:lnTo>
                <a:close/>
              </a:path>
            </a:pathLst>
          </a:custGeom>
          <a:blipFill>
            <a:blip r:embed="rId2"/>
            <a:stretch>
              <a:fillRect l="0" t="0" r="0" b="0"/>
            </a:stretch>
          </a:blipFill>
        </p:spPr>
      </p:sp>
      <p:sp>
        <p:nvSpPr>
          <p:cNvPr name="Freeform 6" id="6"/>
          <p:cNvSpPr/>
          <p:nvPr/>
        </p:nvSpPr>
        <p:spPr>
          <a:xfrm flipH="false" flipV="false" rot="0">
            <a:off x="839956" y="1028700"/>
            <a:ext cx="735971" cy="710546"/>
          </a:xfrm>
          <a:custGeom>
            <a:avLst/>
            <a:gdLst/>
            <a:ahLst/>
            <a:cxnLst/>
            <a:rect r="r" b="b" t="t" l="l"/>
            <a:pathLst>
              <a:path h="710546" w="735971">
                <a:moveTo>
                  <a:pt x="0" y="0"/>
                </a:moveTo>
                <a:lnTo>
                  <a:pt x="735970" y="0"/>
                </a:lnTo>
                <a:lnTo>
                  <a:pt x="735970" y="710546"/>
                </a:lnTo>
                <a:lnTo>
                  <a:pt x="0" y="71054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3320099" y="980112"/>
            <a:ext cx="5996813" cy="4239403"/>
          </a:xfrm>
          <a:prstGeom prst="rect">
            <a:avLst/>
          </a:prstGeom>
        </p:spPr>
        <p:txBody>
          <a:bodyPr anchor="t" rtlCol="false" tIns="0" lIns="0" bIns="0" rIns="0">
            <a:spAutoFit/>
          </a:bodyPr>
          <a:lstStyle/>
          <a:p>
            <a:pPr algn="l" marL="0" indent="0" lvl="0">
              <a:lnSpc>
                <a:spcPts val="10983"/>
              </a:lnSpc>
            </a:pPr>
            <a:r>
              <a:rPr lang="en-US" sz="11207" spc="-717">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Customer</a:t>
            </a:r>
          </a:p>
          <a:p>
            <a:pPr algn="l" marL="0" indent="0" lvl="0">
              <a:lnSpc>
                <a:spcPts val="10983"/>
              </a:lnSpc>
            </a:pPr>
            <a:r>
              <a:rPr lang="en-US" sz="11207" spc="-717">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Loyalty</a:t>
            </a:r>
          </a:p>
          <a:p>
            <a:pPr algn="l" marL="0" indent="0" lvl="0">
              <a:lnSpc>
                <a:spcPts val="10983"/>
              </a:lnSpc>
            </a:pPr>
            <a:r>
              <a:rPr lang="en-US" sz="11207" spc="-717">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Blueprint</a:t>
            </a:r>
          </a:p>
        </p:txBody>
      </p:sp>
      <p:sp>
        <p:nvSpPr>
          <p:cNvPr name="TextBox 8" id="8"/>
          <p:cNvSpPr txBox="true"/>
          <p:nvPr/>
        </p:nvSpPr>
        <p:spPr>
          <a:xfrm rot="0">
            <a:off x="3320099" y="5551934"/>
            <a:ext cx="5696631" cy="1119447"/>
          </a:xfrm>
          <a:prstGeom prst="rect">
            <a:avLst/>
          </a:prstGeom>
        </p:spPr>
        <p:txBody>
          <a:bodyPr anchor="t" rtlCol="false" tIns="0" lIns="0" bIns="0" rIns="0">
            <a:spAutoFit/>
          </a:bodyPr>
          <a:lstStyle/>
          <a:p>
            <a:pPr algn="just" marL="0" indent="0" lvl="0">
              <a:lnSpc>
                <a:spcPts val="2967"/>
              </a:lnSpc>
            </a:pPr>
            <a:r>
              <a:rPr lang="en-US" sz="2318" spc="-6">
                <a:solidFill>
                  <a:srgbClr val="3A58E4"/>
                </a:solidFill>
                <a:latin typeface="Poppins"/>
                <a:ea typeface="Poppins"/>
                <a:cs typeface="Poppins"/>
                <a:sym typeface="Poppins"/>
              </a:rPr>
              <a:t>Uncovering purchasing behavior and loyalty patterns through data analytics.</a:t>
            </a:r>
          </a:p>
        </p:txBody>
      </p:sp>
      <p:sp>
        <p:nvSpPr>
          <p:cNvPr name="TextBox 9" id="9"/>
          <p:cNvSpPr txBox="true"/>
          <p:nvPr/>
        </p:nvSpPr>
        <p:spPr>
          <a:xfrm rot="0">
            <a:off x="350972" y="1968832"/>
            <a:ext cx="1704171" cy="342132"/>
          </a:xfrm>
          <a:prstGeom prst="rect">
            <a:avLst/>
          </a:prstGeom>
        </p:spPr>
        <p:txBody>
          <a:bodyPr anchor="t" rtlCol="false" tIns="0" lIns="0" bIns="0" rIns="0">
            <a:spAutoFit/>
          </a:bodyPr>
          <a:lstStyle/>
          <a:p>
            <a:pPr algn="ctr" marL="0" indent="0" lvl="0">
              <a:lnSpc>
                <a:spcPts val="2419"/>
              </a:lnSpc>
            </a:pPr>
            <a:r>
              <a:rPr lang="en-US" b="true" sz="2261">
                <a:solidFill>
                  <a:srgbClr val="FFFFFF"/>
                </a:solidFill>
                <a:latin typeface="Poppins Bold"/>
                <a:ea typeface="Poppins Bold"/>
                <a:cs typeface="Poppins Bold"/>
                <a:sym typeface="Poppins Bold"/>
              </a:rPr>
              <a:t>Customer</a:t>
            </a:r>
          </a:p>
        </p:txBody>
      </p:sp>
      <p:sp>
        <p:nvSpPr>
          <p:cNvPr name="TextBox 10" id="10"/>
          <p:cNvSpPr txBox="true"/>
          <p:nvPr/>
        </p:nvSpPr>
        <p:spPr>
          <a:xfrm rot="0">
            <a:off x="360740" y="2310991"/>
            <a:ext cx="1704171" cy="342132"/>
          </a:xfrm>
          <a:prstGeom prst="rect">
            <a:avLst/>
          </a:prstGeom>
        </p:spPr>
        <p:txBody>
          <a:bodyPr anchor="t" rtlCol="false" tIns="0" lIns="0" bIns="0" rIns="0">
            <a:spAutoFit/>
          </a:bodyPr>
          <a:lstStyle/>
          <a:p>
            <a:pPr algn="ctr" marL="0" indent="0" lvl="0">
              <a:lnSpc>
                <a:spcPts val="2419"/>
              </a:lnSpc>
            </a:pPr>
            <a:r>
              <a:rPr lang="en-US" sz="2261">
                <a:solidFill>
                  <a:srgbClr val="FFFFFF"/>
                </a:solidFill>
                <a:latin typeface="Poppins"/>
                <a:ea typeface="Poppins"/>
                <a:cs typeface="Poppins"/>
                <a:sym typeface="Poppins"/>
              </a:rPr>
              <a:t>Analytics</a:t>
            </a:r>
          </a:p>
        </p:txBody>
      </p:sp>
      <p:grpSp>
        <p:nvGrpSpPr>
          <p:cNvPr name="Group 11" id="11"/>
          <p:cNvGrpSpPr/>
          <p:nvPr/>
        </p:nvGrpSpPr>
        <p:grpSpPr>
          <a:xfrm rot="0">
            <a:off x="360740" y="8287049"/>
            <a:ext cx="1713939" cy="684264"/>
            <a:chOff x="0" y="0"/>
            <a:chExt cx="2285252" cy="912352"/>
          </a:xfrm>
        </p:grpSpPr>
        <p:sp>
          <p:nvSpPr>
            <p:cNvPr name="TextBox 12" id="12"/>
            <p:cNvSpPr txBox="true"/>
            <p:nvPr/>
          </p:nvSpPr>
          <p:spPr>
            <a:xfrm rot="0">
              <a:off x="0" y="0"/>
              <a:ext cx="2272228" cy="456176"/>
            </a:xfrm>
            <a:prstGeom prst="rect">
              <a:avLst/>
            </a:prstGeom>
          </p:spPr>
          <p:txBody>
            <a:bodyPr anchor="t" rtlCol="false" tIns="0" lIns="0" bIns="0" rIns="0">
              <a:spAutoFit/>
            </a:bodyPr>
            <a:lstStyle/>
            <a:p>
              <a:pPr algn="ctr" marL="0" indent="0" lvl="0">
                <a:lnSpc>
                  <a:spcPts val="2419"/>
                </a:lnSpc>
              </a:pPr>
              <a:r>
                <a:rPr lang="en-US" b="true" sz="2261">
                  <a:solidFill>
                    <a:srgbClr val="FFFFFF"/>
                  </a:solidFill>
                  <a:latin typeface="Poppins Bold"/>
                  <a:ea typeface="Poppins Bold"/>
                  <a:cs typeface="Poppins Bold"/>
                  <a:sym typeface="Poppins Bold"/>
                </a:rPr>
                <a:t>2026</a:t>
              </a:r>
            </a:p>
          </p:txBody>
        </p:sp>
        <p:sp>
          <p:nvSpPr>
            <p:cNvPr name="TextBox 13" id="13"/>
            <p:cNvSpPr txBox="true"/>
            <p:nvPr/>
          </p:nvSpPr>
          <p:spPr>
            <a:xfrm rot="0">
              <a:off x="13024" y="456176"/>
              <a:ext cx="2272228" cy="456176"/>
            </a:xfrm>
            <a:prstGeom prst="rect">
              <a:avLst/>
            </a:prstGeom>
          </p:spPr>
          <p:txBody>
            <a:bodyPr anchor="t" rtlCol="false" tIns="0" lIns="0" bIns="0" rIns="0">
              <a:spAutoFit/>
            </a:bodyPr>
            <a:lstStyle/>
            <a:p>
              <a:pPr algn="ctr" marL="0" indent="0" lvl="0">
                <a:lnSpc>
                  <a:spcPts val="2419"/>
                </a:lnSpc>
              </a:pPr>
              <a:r>
                <a:rPr lang="en-US" sz="2261">
                  <a:solidFill>
                    <a:srgbClr val="FFFFFF"/>
                  </a:solidFill>
                  <a:latin typeface="Poppins"/>
                  <a:ea typeface="Poppins"/>
                  <a:cs typeface="Poppins"/>
                  <a:sym typeface="Poppins"/>
                </a:rPr>
                <a:t>Project</a:t>
              </a:r>
            </a:p>
          </p:txBody>
        </p:sp>
      </p:grpSp>
      <p:sp>
        <p:nvSpPr>
          <p:cNvPr name="TextBox 14" id="14"/>
          <p:cNvSpPr txBox="true"/>
          <p:nvPr/>
        </p:nvSpPr>
        <p:spPr>
          <a:xfrm rot="0">
            <a:off x="3320099" y="8895113"/>
            <a:ext cx="3322141" cy="679481"/>
          </a:xfrm>
          <a:prstGeom prst="rect">
            <a:avLst/>
          </a:prstGeom>
        </p:spPr>
        <p:txBody>
          <a:bodyPr anchor="t" rtlCol="false" tIns="0" lIns="0" bIns="0" rIns="0">
            <a:spAutoFit/>
          </a:bodyPr>
          <a:lstStyle/>
          <a:p>
            <a:pPr algn="ctr">
              <a:lnSpc>
                <a:spcPts val="5598"/>
              </a:lnSpc>
              <a:spcBef>
                <a:spcPct val="0"/>
              </a:spcBef>
            </a:pPr>
            <a:r>
              <a:rPr lang="en-US" b="true" sz="3998" i="true">
                <a:gradFill>
                  <a:gsLst>
                    <a:gs pos="0">
                      <a:srgbClr val="FF5757">
                        <a:alpha val="100000"/>
                      </a:srgbClr>
                    </a:gs>
                    <a:gs pos="100000">
                      <a:srgbClr val="8C52FF">
                        <a:alpha val="100000"/>
                      </a:srgbClr>
                    </a:gs>
                  </a:gsLst>
                  <a:lin ang="0"/>
                </a:gradFill>
                <a:latin typeface="Canva Sans Bold Italics"/>
                <a:ea typeface="Canva Sans Bold Italics"/>
                <a:cs typeface="Canva Sans Bold Italics"/>
                <a:sym typeface="Canva Sans Bold Italics"/>
              </a:rPr>
              <a:t>MAHI VERMA</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1666284"/>
            <a:ext cx="47625" cy="2040668"/>
            <a:chOff x="0" y="0"/>
            <a:chExt cx="12543" cy="537460"/>
          </a:xfrm>
        </p:grpSpPr>
        <p:sp>
          <p:nvSpPr>
            <p:cNvPr name="Freeform 3" id="3"/>
            <p:cNvSpPr/>
            <p:nvPr/>
          </p:nvSpPr>
          <p:spPr>
            <a:xfrm flipH="false" flipV="false" rot="0">
              <a:off x="0" y="0"/>
              <a:ext cx="12543" cy="537460"/>
            </a:xfrm>
            <a:custGeom>
              <a:avLst/>
              <a:gdLst/>
              <a:ahLst/>
              <a:cxnLst/>
              <a:rect r="r" b="b" t="t" l="l"/>
              <a:pathLst>
                <a:path h="537460" w="12543">
                  <a:moveTo>
                    <a:pt x="0" y="0"/>
                  </a:moveTo>
                  <a:lnTo>
                    <a:pt x="12543" y="0"/>
                  </a:lnTo>
                  <a:lnTo>
                    <a:pt x="12543" y="537460"/>
                  </a:lnTo>
                  <a:lnTo>
                    <a:pt x="0" y="537460"/>
                  </a:lnTo>
                  <a:close/>
                </a:path>
              </a:pathLst>
            </a:custGeom>
            <a:solidFill>
              <a:srgbClr val="3A58E4"/>
            </a:solidFill>
          </p:spPr>
        </p:sp>
        <p:sp>
          <p:nvSpPr>
            <p:cNvPr name="TextBox 4" id="4"/>
            <p:cNvSpPr txBox="true"/>
            <p:nvPr/>
          </p:nvSpPr>
          <p:spPr>
            <a:xfrm>
              <a:off x="0" y="-38100"/>
              <a:ext cx="12543" cy="57556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5" id="5"/>
          <p:cNvGrpSpPr/>
          <p:nvPr/>
        </p:nvGrpSpPr>
        <p:grpSpPr>
          <a:xfrm rot="0">
            <a:off x="16438046" y="129"/>
            <a:ext cx="1849954" cy="1848037"/>
            <a:chOff x="0" y="0"/>
            <a:chExt cx="2466605" cy="2464050"/>
          </a:xfrm>
        </p:grpSpPr>
        <p:grpSp>
          <p:nvGrpSpPr>
            <p:cNvPr name="Group 6" id="6"/>
            <p:cNvGrpSpPr/>
            <p:nvPr/>
          </p:nvGrpSpPr>
          <p:grpSpPr>
            <a:xfrm rot="0">
              <a:off x="0" y="0"/>
              <a:ext cx="2466605" cy="2464050"/>
              <a:chOff x="0" y="0"/>
              <a:chExt cx="787566" cy="786750"/>
            </a:xfrm>
          </p:grpSpPr>
          <p:sp>
            <p:nvSpPr>
              <p:cNvPr name="Freeform 7" id="7"/>
              <p:cNvSpPr/>
              <p:nvPr/>
            </p:nvSpPr>
            <p:spPr>
              <a:xfrm flipH="false" flipV="false" rot="0">
                <a:off x="0" y="0"/>
                <a:ext cx="787566" cy="786750"/>
              </a:xfrm>
              <a:custGeom>
                <a:avLst/>
                <a:gdLst/>
                <a:ahLst/>
                <a:cxnLst/>
                <a:rect r="r" b="b" t="t" l="l"/>
                <a:pathLst>
                  <a:path h="786750" w="787566">
                    <a:moveTo>
                      <a:pt x="0" y="0"/>
                    </a:moveTo>
                    <a:lnTo>
                      <a:pt x="787566" y="0"/>
                    </a:lnTo>
                    <a:lnTo>
                      <a:pt x="787566" y="786750"/>
                    </a:lnTo>
                    <a:lnTo>
                      <a:pt x="0" y="786750"/>
                    </a:ln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p:spPr>
          </p:sp>
          <p:sp>
            <p:nvSpPr>
              <p:cNvPr name="TextBox 8" id="8"/>
              <p:cNvSpPr txBox="true"/>
              <p:nvPr/>
            </p:nvSpPr>
            <p:spPr>
              <a:xfrm>
                <a:off x="0" y="-38100"/>
                <a:ext cx="787566" cy="82485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9" id="9"/>
            <p:cNvSpPr txBox="true"/>
            <p:nvPr/>
          </p:nvSpPr>
          <p:spPr>
            <a:xfrm rot="0">
              <a:off x="319164" y="694049"/>
              <a:ext cx="1828278" cy="1199777"/>
            </a:xfrm>
            <a:prstGeom prst="rect">
              <a:avLst/>
            </a:prstGeom>
          </p:spPr>
          <p:txBody>
            <a:bodyPr anchor="t" rtlCol="false" tIns="0" lIns="0" bIns="0" rIns="0">
              <a:spAutoFit/>
            </a:bodyPr>
            <a:lstStyle/>
            <a:p>
              <a:pPr algn="ctr" marL="0" indent="0" lvl="0">
                <a:lnSpc>
                  <a:spcPts val="6421"/>
                </a:lnSpc>
              </a:pPr>
              <a:r>
                <a:rPr lang="en-US" sz="6552" spc="-419">
                  <a:solidFill>
                    <a:srgbClr val="FFFFFF"/>
                  </a:solidFill>
                  <a:latin typeface="Bricolage Grotesque"/>
                  <a:ea typeface="Bricolage Grotesque"/>
                  <a:cs typeface="Bricolage Grotesque"/>
                  <a:sym typeface="Bricolage Grotesque"/>
                </a:rPr>
                <a:t>02</a:t>
              </a:r>
            </a:p>
          </p:txBody>
        </p:sp>
      </p:grpSp>
      <p:sp>
        <p:nvSpPr>
          <p:cNvPr name="Freeform 10" id="10"/>
          <p:cNvSpPr/>
          <p:nvPr/>
        </p:nvSpPr>
        <p:spPr>
          <a:xfrm flipH="false" flipV="false" rot="0">
            <a:off x="9072470" y="2085957"/>
            <a:ext cx="8138967" cy="7447155"/>
          </a:xfrm>
          <a:custGeom>
            <a:avLst/>
            <a:gdLst/>
            <a:ahLst/>
            <a:cxnLst/>
            <a:rect r="r" b="b" t="t" l="l"/>
            <a:pathLst>
              <a:path h="7447155" w="8138967">
                <a:moveTo>
                  <a:pt x="0" y="0"/>
                </a:moveTo>
                <a:lnTo>
                  <a:pt x="8138967" y="0"/>
                </a:lnTo>
                <a:lnTo>
                  <a:pt x="8138967" y="7447155"/>
                </a:lnTo>
                <a:lnTo>
                  <a:pt x="0" y="7447155"/>
                </a:lnTo>
                <a:lnTo>
                  <a:pt x="0" y="0"/>
                </a:lnTo>
                <a:close/>
              </a:path>
            </a:pathLst>
          </a:custGeom>
          <a:blipFill>
            <a:blip r:embed="rId2"/>
            <a:stretch>
              <a:fillRect l="0" t="0" r="0" b="0"/>
            </a:stretch>
          </a:blipFill>
        </p:spPr>
      </p:sp>
      <p:grpSp>
        <p:nvGrpSpPr>
          <p:cNvPr name="Group 11" id="11"/>
          <p:cNvGrpSpPr/>
          <p:nvPr/>
        </p:nvGrpSpPr>
        <p:grpSpPr>
          <a:xfrm rot="0">
            <a:off x="1028700" y="4407668"/>
            <a:ext cx="6730921" cy="379246"/>
            <a:chOff x="0" y="0"/>
            <a:chExt cx="8974562" cy="505662"/>
          </a:xfrm>
        </p:grpSpPr>
        <p:sp>
          <p:nvSpPr>
            <p:cNvPr name="TextBox 12" id="12"/>
            <p:cNvSpPr txBox="true"/>
            <p:nvPr/>
          </p:nvSpPr>
          <p:spPr>
            <a:xfrm rot="0">
              <a:off x="0" y="-49117"/>
              <a:ext cx="8974562" cy="554779"/>
            </a:xfrm>
            <a:prstGeom prst="rect">
              <a:avLst/>
            </a:prstGeom>
          </p:spPr>
          <p:txBody>
            <a:bodyPr anchor="t" rtlCol="false" tIns="0" lIns="0" bIns="0" rIns="0">
              <a:spAutoFit/>
            </a:bodyPr>
            <a:lstStyle/>
            <a:p>
              <a:pPr algn="l" marL="0" indent="0" lvl="0">
                <a:lnSpc>
                  <a:spcPts val="3316"/>
                </a:lnSpc>
              </a:pPr>
              <a:r>
                <a:rPr lang="en-US" b="true" sz="2368" spc="-59">
                  <a:gradFill>
                    <a:gsLst>
                      <a:gs pos="0">
                        <a:srgbClr val="FF5757">
                          <a:alpha val="100000"/>
                        </a:srgbClr>
                      </a:gs>
                      <a:gs pos="100000">
                        <a:srgbClr val="8C52FF">
                          <a:alpha val="100000"/>
                        </a:srgbClr>
                      </a:gs>
                    </a:gsLst>
                    <a:lin ang="0"/>
                  </a:gradFill>
                  <a:latin typeface="Poppins Bold"/>
                  <a:ea typeface="Poppins Bold"/>
                  <a:cs typeface="Poppins Bold"/>
                  <a:sym typeface="Poppins Bold"/>
                </a:rPr>
                <a:t>CUSTOMER LOYALTY BLUEPRINT ANALYTICS</a:t>
              </a:r>
            </a:p>
          </p:txBody>
        </p:sp>
        <p:sp>
          <p:nvSpPr>
            <p:cNvPr name="Freeform 13" id="13"/>
            <p:cNvSpPr/>
            <p:nvPr/>
          </p:nvSpPr>
          <p:spPr>
            <a:xfrm flipH="false" flipV="false" rot="-8687136">
              <a:off x="8443725" y="44820"/>
              <a:ext cx="252200" cy="304858"/>
            </a:xfrm>
            <a:custGeom>
              <a:avLst/>
              <a:gdLst/>
              <a:ahLst/>
              <a:cxnLst/>
              <a:rect r="r" b="b" t="t" l="l"/>
              <a:pathLst>
                <a:path h="304858" w="252200">
                  <a:moveTo>
                    <a:pt x="0" y="0"/>
                  </a:moveTo>
                  <a:lnTo>
                    <a:pt x="252200" y="0"/>
                  </a:lnTo>
                  <a:lnTo>
                    <a:pt x="252200" y="304857"/>
                  </a:lnTo>
                  <a:lnTo>
                    <a:pt x="0" y="30485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sp>
        <p:nvSpPr>
          <p:cNvPr name="TextBox 14" id="14"/>
          <p:cNvSpPr txBox="true"/>
          <p:nvPr/>
        </p:nvSpPr>
        <p:spPr>
          <a:xfrm rot="0">
            <a:off x="1256766" y="1197264"/>
            <a:ext cx="5412331" cy="2839076"/>
          </a:xfrm>
          <a:prstGeom prst="rect">
            <a:avLst/>
          </a:prstGeom>
        </p:spPr>
        <p:txBody>
          <a:bodyPr anchor="t" rtlCol="false" tIns="0" lIns="0" bIns="0" rIns="0">
            <a:spAutoFit/>
          </a:bodyPr>
          <a:lstStyle/>
          <a:p>
            <a:pPr algn="l" marL="0" indent="0" lvl="0">
              <a:lnSpc>
                <a:spcPts val="7334"/>
              </a:lnSpc>
            </a:pPr>
            <a:r>
              <a:rPr lang="en-US" sz="7484" spc="-478">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Project Overview and Dataset</a:t>
            </a:r>
          </a:p>
        </p:txBody>
      </p:sp>
      <p:sp>
        <p:nvSpPr>
          <p:cNvPr name="TextBox 15" id="15"/>
          <p:cNvSpPr txBox="true"/>
          <p:nvPr/>
        </p:nvSpPr>
        <p:spPr>
          <a:xfrm rot="0">
            <a:off x="1076325" y="5086350"/>
            <a:ext cx="6570559" cy="4808426"/>
          </a:xfrm>
          <a:prstGeom prst="rect">
            <a:avLst/>
          </a:prstGeom>
        </p:spPr>
        <p:txBody>
          <a:bodyPr anchor="t" rtlCol="false" tIns="0" lIns="0" bIns="0" rIns="0">
            <a:spAutoFit/>
          </a:bodyPr>
          <a:lstStyle/>
          <a:p>
            <a:pPr algn="r" marL="0" indent="0" lvl="0">
              <a:lnSpc>
                <a:spcPts val="2718"/>
              </a:lnSpc>
            </a:pPr>
            <a:r>
              <a:rPr lang="en-US" sz="1941" spc="-5">
                <a:solidFill>
                  <a:srgbClr val="3A58E4"/>
                </a:solidFill>
                <a:latin typeface="Poppins"/>
                <a:ea typeface="Poppins"/>
                <a:cs typeface="Poppins"/>
                <a:sym typeface="Poppins"/>
              </a:rPr>
              <a:t>Project Goal: Analyze 3,900 customer transactions to reveal loyalty patterns and revenue drivers through comprehensive data analytics.</a:t>
            </a:r>
          </a:p>
          <a:p>
            <a:pPr algn="r" marL="0" indent="0" lvl="0">
              <a:lnSpc>
                <a:spcPts val="2718"/>
              </a:lnSpc>
            </a:pPr>
            <a:r>
              <a:rPr lang="en-US" sz="1941" spc="-5">
                <a:solidFill>
                  <a:srgbClr val="3A58E4"/>
                </a:solidFill>
                <a:latin typeface="Poppins"/>
                <a:ea typeface="Poppins"/>
                <a:cs typeface="Poppins"/>
                <a:sym typeface="Poppins"/>
              </a:rPr>
              <a:t>Dataset Overview: 3,900 rows × 18 columns containing rich customer information including demographics, purchase behavior, and product data.</a:t>
            </a:r>
          </a:p>
          <a:p>
            <a:pPr algn="just" marL="0" indent="0" lvl="0">
              <a:lnSpc>
                <a:spcPts val="2718"/>
              </a:lnSpc>
            </a:pPr>
          </a:p>
          <a:p>
            <a:pPr algn="just" marL="0" indent="0" lvl="0">
              <a:lnSpc>
                <a:spcPts val="2718"/>
              </a:lnSpc>
            </a:pPr>
            <a:r>
              <a:rPr lang="en-US" sz="1941" spc="-5">
                <a:gradFill>
                  <a:gsLst>
                    <a:gs pos="0">
                      <a:srgbClr val="FF5757">
                        <a:alpha val="100000"/>
                      </a:srgbClr>
                    </a:gs>
                    <a:gs pos="100000">
                      <a:srgbClr val="8C52FF">
                        <a:alpha val="100000"/>
                      </a:srgbClr>
                    </a:gs>
                  </a:gsLst>
                  <a:lin ang="0"/>
                </a:gradFill>
                <a:latin typeface="Poppins"/>
                <a:ea typeface="Poppins"/>
                <a:cs typeface="Poppins"/>
                <a:sym typeface="Poppins"/>
              </a:rPr>
              <a:t>Key Features:</a:t>
            </a:r>
          </a:p>
          <a:p>
            <a:pPr algn="just" marL="0" indent="0" lvl="0">
              <a:lnSpc>
                <a:spcPts val="2718"/>
              </a:lnSpc>
            </a:pPr>
            <a:r>
              <a:rPr lang="en-US" sz="1941" spc="-5">
                <a:solidFill>
                  <a:srgbClr val="3A58E4"/>
                </a:solidFill>
                <a:latin typeface="Poppins"/>
                <a:ea typeface="Poppins"/>
                <a:cs typeface="Poppins"/>
                <a:sym typeface="Poppins"/>
              </a:rPr>
              <a:t>• Demographics (age, gender, location)</a:t>
            </a:r>
          </a:p>
          <a:p>
            <a:pPr algn="just" marL="0" indent="0" lvl="0">
              <a:lnSpc>
                <a:spcPts val="2718"/>
              </a:lnSpc>
            </a:pPr>
            <a:r>
              <a:rPr lang="en-US" sz="1941" spc="-5">
                <a:solidFill>
                  <a:srgbClr val="3A58E4"/>
                </a:solidFill>
                <a:latin typeface="Poppins"/>
                <a:ea typeface="Poppins"/>
                <a:cs typeface="Poppins"/>
                <a:sym typeface="Poppins"/>
              </a:rPr>
              <a:t>• Purchase amounts and frequency</a:t>
            </a:r>
          </a:p>
          <a:p>
            <a:pPr algn="just" marL="0" indent="0" lvl="0">
              <a:lnSpc>
                <a:spcPts val="2718"/>
              </a:lnSpc>
            </a:pPr>
            <a:r>
              <a:rPr lang="en-US" sz="1941" spc="-5">
                <a:solidFill>
                  <a:srgbClr val="3A58E4"/>
                </a:solidFill>
                <a:latin typeface="Poppins"/>
                <a:ea typeface="Poppins"/>
                <a:cs typeface="Poppins"/>
                <a:sym typeface="Poppins"/>
              </a:rPr>
              <a:t>• Review ratings and feedback</a:t>
            </a:r>
          </a:p>
          <a:p>
            <a:pPr algn="just" marL="0" indent="0" lvl="0">
              <a:lnSpc>
                <a:spcPts val="2718"/>
              </a:lnSpc>
            </a:pPr>
            <a:r>
              <a:rPr lang="en-US" sz="1941" spc="-5">
                <a:solidFill>
                  <a:srgbClr val="3A58E4"/>
                </a:solidFill>
                <a:latin typeface="Poppins"/>
                <a:ea typeface="Poppins"/>
                <a:cs typeface="Poppins"/>
                <a:sym typeface="Poppins"/>
              </a:rPr>
              <a:t>• Subscription status</a:t>
            </a:r>
          </a:p>
          <a:p>
            <a:pPr algn="just" marL="0" indent="0" lvl="0">
              <a:lnSpc>
                <a:spcPts val="2718"/>
              </a:lnSpc>
            </a:pPr>
            <a:r>
              <a:rPr lang="en-US" sz="1941" spc="-5">
                <a:solidFill>
                  <a:srgbClr val="3A58E4"/>
                </a:solidFill>
                <a:latin typeface="Poppins"/>
                <a:ea typeface="Poppins"/>
                <a:cs typeface="Poppins"/>
                <a:sym typeface="Poppins"/>
              </a:rPr>
              <a:t>• Seasonal purchasing patterns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942778" y="-36417"/>
            <a:ext cx="2345222" cy="1884583"/>
            <a:chOff x="0" y="0"/>
            <a:chExt cx="3126962" cy="2512778"/>
          </a:xfrm>
        </p:grpSpPr>
        <p:grpSp>
          <p:nvGrpSpPr>
            <p:cNvPr name="Group 3" id="3"/>
            <p:cNvGrpSpPr/>
            <p:nvPr/>
          </p:nvGrpSpPr>
          <p:grpSpPr>
            <a:xfrm rot="0">
              <a:off x="0" y="0"/>
              <a:ext cx="3126962" cy="2512778"/>
              <a:chOff x="0" y="0"/>
              <a:chExt cx="787566" cy="632875"/>
            </a:xfrm>
          </p:grpSpPr>
          <p:sp>
            <p:nvSpPr>
              <p:cNvPr name="Freeform 4" id="4"/>
              <p:cNvSpPr/>
              <p:nvPr/>
            </p:nvSpPr>
            <p:spPr>
              <a:xfrm flipH="false" flipV="false" rot="0">
                <a:off x="0" y="0"/>
                <a:ext cx="787566" cy="632875"/>
              </a:xfrm>
              <a:custGeom>
                <a:avLst/>
                <a:gdLst/>
                <a:ahLst/>
                <a:cxnLst/>
                <a:rect r="r" b="b" t="t" l="l"/>
                <a:pathLst>
                  <a:path h="632875" w="787566">
                    <a:moveTo>
                      <a:pt x="0" y="0"/>
                    </a:moveTo>
                    <a:lnTo>
                      <a:pt x="787566" y="0"/>
                    </a:lnTo>
                    <a:lnTo>
                      <a:pt x="787566" y="632875"/>
                    </a:lnTo>
                    <a:lnTo>
                      <a:pt x="0" y="632875"/>
                    </a:ln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p:spPr>
          </p:sp>
          <p:sp>
            <p:nvSpPr>
              <p:cNvPr name="TextBox 5" id="5"/>
              <p:cNvSpPr txBox="true"/>
              <p:nvPr/>
            </p:nvSpPr>
            <p:spPr>
              <a:xfrm>
                <a:off x="0" y="-38100"/>
                <a:ext cx="787566" cy="670975"/>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6" id="6"/>
            <p:cNvSpPr txBox="true"/>
            <p:nvPr/>
          </p:nvSpPr>
          <p:spPr>
            <a:xfrm rot="0">
              <a:off x="404610" y="837184"/>
              <a:ext cx="2317743" cy="952710"/>
            </a:xfrm>
            <a:prstGeom prst="rect">
              <a:avLst/>
            </a:prstGeom>
          </p:spPr>
          <p:txBody>
            <a:bodyPr anchor="t" rtlCol="false" tIns="0" lIns="0" bIns="0" rIns="0">
              <a:spAutoFit/>
            </a:bodyPr>
            <a:lstStyle/>
            <a:p>
              <a:pPr algn="ctr" marL="0" indent="0" lvl="0">
                <a:lnSpc>
                  <a:spcPts val="5198"/>
                </a:lnSpc>
              </a:pPr>
              <a:r>
                <a:rPr lang="en-US" sz="5304" spc="-339">
                  <a:solidFill>
                    <a:srgbClr val="FFFFFF"/>
                  </a:solidFill>
                  <a:latin typeface="Bricolage Grotesque"/>
                  <a:ea typeface="Bricolage Grotesque"/>
                  <a:cs typeface="Bricolage Grotesque"/>
                  <a:sym typeface="Bricolage Grotesque"/>
                </a:rPr>
                <a:t>03</a:t>
              </a:r>
            </a:p>
          </p:txBody>
        </p:sp>
      </p:grpSp>
      <p:grpSp>
        <p:nvGrpSpPr>
          <p:cNvPr name="Group 7" id="7"/>
          <p:cNvGrpSpPr/>
          <p:nvPr/>
        </p:nvGrpSpPr>
        <p:grpSpPr>
          <a:xfrm rot="0">
            <a:off x="1463921" y="4926041"/>
            <a:ext cx="3746706" cy="3746706"/>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gradFill>
                <a:gsLst>
                  <a:gs pos="0">
                    <a:srgbClr val="293E9C">
                      <a:alpha val="100000"/>
                    </a:srgbClr>
                  </a:gs>
                  <a:gs pos="100000">
                    <a:srgbClr val="3A58E4">
                      <a:alpha val="100000"/>
                    </a:srgbClr>
                  </a:gs>
                </a:gsLst>
                <a:path path="circle">
                  <a:fillToRect l="0" r="100000" t="0" b="100000"/>
                </a:path>
                <a:tileRect r="0" l="-100000" b="0" t="-100000"/>
              </a:gradFill>
              <a:prstDash val="solid"/>
              <a:miter/>
            </a:ln>
          </p:spPr>
        </p:sp>
        <p:sp>
          <p:nvSpPr>
            <p:cNvPr name="TextBox 9" id="9"/>
            <p:cNvSpPr txBox="true"/>
            <p:nvPr/>
          </p:nvSpPr>
          <p:spPr>
            <a:xfrm>
              <a:off x="76200" y="38100"/>
              <a:ext cx="660400" cy="698500"/>
            </a:xfrm>
            <a:prstGeom prst="rect">
              <a:avLst/>
            </a:prstGeom>
          </p:spPr>
          <p:txBody>
            <a:bodyPr anchor="ctr" rtlCol="false" tIns="40108" lIns="40108" bIns="40108" rIns="40108"/>
            <a:lstStyle/>
            <a:p>
              <a:pPr algn="ctr" marL="0" indent="0" lvl="0">
                <a:lnSpc>
                  <a:spcPts val="2659"/>
                </a:lnSpc>
              </a:pPr>
            </a:p>
          </p:txBody>
        </p:sp>
      </p:grpSp>
      <p:grpSp>
        <p:nvGrpSpPr>
          <p:cNvPr name="Group 10" id="10"/>
          <p:cNvGrpSpPr/>
          <p:nvPr/>
        </p:nvGrpSpPr>
        <p:grpSpPr>
          <a:xfrm rot="0">
            <a:off x="5334452" y="4926041"/>
            <a:ext cx="3746706" cy="3746706"/>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F5757">
                    <a:alpha val="100000"/>
                  </a:srgbClr>
                </a:gs>
                <a:gs pos="100000">
                  <a:srgbClr val="8C52FF">
                    <a:alpha val="100000"/>
                  </a:srgbClr>
                </a:gs>
              </a:gsLst>
              <a:lin ang="0"/>
            </a:gradFill>
            <a:ln cap="sq">
              <a:noFill/>
              <a:prstDash val="solid"/>
              <a:miter/>
            </a:ln>
          </p:spPr>
        </p:sp>
        <p:sp>
          <p:nvSpPr>
            <p:cNvPr name="TextBox 12" id="12"/>
            <p:cNvSpPr txBox="true"/>
            <p:nvPr/>
          </p:nvSpPr>
          <p:spPr>
            <a:xfrm>
              <a:off x="76200" y="38100"/>
              <a:ext cx="660400" cy="698500"/>
            </a:xfrm>
            <a:prstGeom prst="rect">
              <a:avLst/>
            </a:prstGeom>
          </p:spPr>
          <p:txBody>
            <a:bodyPr anchor="ctr" rtlCol="false" tIns="40108" lIns="40108" bIns="40108" rIns="40108"/>
            <a:lstStyle/>
            <a:p>
              <a:pPr algn="ctr" marL="0" indent="0" lvl="0">
                <a:lnSpc>
                  <a:spcPts val="2659"/>
                </a:lnSpc>
              </a:pPr>
            </a:p>
          </p:txBody>
        </p:sp>
      </p:grpSp>
      <p:grpSp>
        <p:nvGrpSpPr>
          <p:cNvPr name="Group 13" id="13"/>
          <p:cNvGrpSpPr/>
          <p:nvPr/>
        </p:nvGrpSpPr>
        <p:grpSpPr>
          <a:xfrm rot="0">
            <a:off x="9205912" y="4926041"/>
            <a:ext cx="3746706" cy="3746706"/>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gradFill>
                <a:gsLst>
                  <a:gs pos="0">
                    <a:srgbClr val="293E9C">
                      <a:alpha val="100000"/>
                    </a:srgbClr>
                  </a:gs>
                  <a:gs pos="100000">
                    <a:srgbClr val="3A58E4">
                      <a:alpha val="100000"/>
                    </a:srgbClr>
                  </a:gs>
                </a:gsLst>
                <a:path path="circle">
                  <a:fillToRect l="0" r="100000" t="0" b="100000"/>
                </a:path>
                <a:tileRect r="0" l="-100000" b="0" t="-100000"/>
              </a:gradFill>
              <a:prstDash val="solid"/>
              <a:miter/>
            </a:ln>
          </p:spPr>
        </p:sp>
        <p:sp>
          <p:nvSpPr>
            <p:cNvPr name="TextBox 15" id="15"/>
            <p:cNvSpPr txBox="true"/>
            <p:nvPr/>
          </p:nvSpPr>
          <p:spPr>
            <a:xfrm>
              <a:off x="76200" y="38100"/>
              <a:ext cx="660400" cy="698500"/>
            </a:xfrm>
            <a:prstGeom prst="rect">
              <a:avLst/>
            </a:prstGeom>
          </p:spPr>
          <p:txBody>
            <a:bodyPr anchor="ctr" rtlCol="false" tIns="40108" lIns="40108" bIns="40108" rIns="40108"/>
            <a:lstStyle/>
            <a:p>
              <a:pPr algn="ctr" marL="0" indent="0" lvl="0">
                <a:lnSpc>
                  <a:spcPts val="2659"/>
                </a:lnSpc>
              </a:pPr>
            </a:p>
          </p:txBody>
        </p:sp>
      </p:grpSp>
      <p:grpSp>
        <p:nvGrpSpPr>
          <p:cNvPr name="Group 16" id="16"/>
          <p:cNvGrpSpPr/>
          <p:nvPr/>
        </p:nvGrpSpPr>
        <p:grpSpPr>
          <a:xfrm rot="0">
            <a:off x="13077373" y="4926041"/>
            <a:ext cx="3746706" cy="3746706"/>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F5757">
                    <a:alpha val="100000"/>
                  </a:srgbClr>
                </a:gs>
                <a:gs pos="100000">
                  <a:srgbClr val="8C52FF">
                    <a:alpha val="100000"/>
                  </a:srgbClr>
                </a:gs>
              </a:gsLst>
              <a:lin ang="0"/>
            </a:gradFill>
            <a:ln cap="sq">
              <a:noFill/>
              <a:prstDash val="solid"/>
              <a:miter/>
            </a:ln>
          </p:spPr>
        </p:sp>
        <p:sp>
          <p:nvSpPr>
            <p:cNvPr name="TextBox 18" id="18"/>
            <p:cNvSpPr txBox="true"/>
            <p:nvPr/>
          </p:nvSpPr>
          <p:spPr>
            <a:xfrm>
              <a:off x="76200" y="38100"/>
              <a:ext cx="660400" cy="698500"/>
            </a:xfrm>
            <a:prstGeom prst="rect">
              <a:avLst/>
            </a:prstGeom>
          </p:spPr>
          <p:txBody>
            <a:bodyPr anchor="ctr" rtlCol="false" tIns="40108" lIns="40108" bIns="40108" rIns="40108"/>
            <a:lstStyle/>
            <a:p>
              <a:pPr algn="ctr" marL="0" indent="0" lvl="0">
                <a:lnSpc>
                  <a:spcPts val="2659"/>
                </a:lnSpc>
              </a:pPr>
            </a:p>
          </p:txBody>
        </p:sp>
      </p:grpSp>
      <p:grpSp>
        <p:nvGrpSpPr>
          <p:cNvPr name="Group 19" id="19"/>
          <p:cNvGrpSpPr/>
          <p:nvPr/>
        </p:nvGrpSpPr>
        <p:grpSpPr>
          <a:xfrm rot="0">
            <a:off x="4176506" y="5050179"/>
            <a:ext cx="746986" cy="622848"/>
            <a:chOff x="0" y="0"/>
            <a:chExt cx="995981" cy="830463"/>
          </a:xfrm>
        </p:grpSpPr>
        <p:grpSp>
          <p:nvGrpSpPr>
            <p:cNvPr name="Group 20" id="20"/>
            <p:cNvGrpSpPr/>
            <p:nvPr/>
          </p:nvGrpSpPr>
          <p:grpSpPr>
            <a:xfrm rot="0">
              <a:off x="0" y="0"/>
              <a:ext cx="995981" cy="830463"/>
              <a:chOff x="0" y="0"/>
              <a:chExt cx="812800" cy="677724"/>
            </a:xfrm>
          </p:grpSpPr>
          <p:sp>
            <p:nvSpPr>
              <p:cNvPr name="Freeform 21" id="21"/>
              <p:cNvSpPr/>
              <p:nvPr/>
            </p:nvSpPr>
            <p:spPr>
              <a:xfrm flipH="false" flipV="false" rot="0">
                <a:off x="0" y="0"/>
                <a:ext cx="812800" cy="677724"/>
              </a:xfrm>
              <a:custGeom>
                <a:avLst/>
                <a:gdLst/>
                <a:ahLst/>
                <a:cxnLst/>
                <a:rect r="r" b="b" t="t" l="l"/>
                <a:pathLst>
                  <a:path h="677724" w="812800">
                    <a:moveTo>
                      <a:pt x="406400" y="0"/>
                    </a:moveTo>
                    <a:cubicBezTo>
                      <a:pt x="181951" y="0"/>
                      <a:pt x="0" y="151714"/>
                      <a:pt x="0" y="338862"/>
                    </a:cubicBezTo>
                    <a:cubicBezTo>
                      <a:pt x="0" y="526011"/>
                      <a:pt x="181951" y="677724"/>
                      <a:pt x="406400" y="677724"/>
                    </a:cubicBezTo>
                    <a:cubicBezTo>
                      <a:pt x="630849" y="677724"/>
                      <a:pt x="812800" y="526011"/>
                      <a:pt x="812800" y="338862"/>
                    </a:cubicBezTo>
                    <a:cubicBezTo>
                      <a:pt x="812800" y="151714"/>
                      <a:pt x="630849" y="0"/>
                      <a:pt x="406400" y="0"/>
                    </a:cubicBez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a:ln cap="sq">
                <a:noFill/>
                <a:prstDash val="solid"/>
                <a:miter/>
              </a:ln>
            </p:spPr>
          </p:sp>
          <p:sp>
            <p:nvSpPr>
              <p:cNvPr name="TextBox 22" id="22"/>
              <p:cNvSpPr txBox="true"/>
              <p:nvPr/>
            </p:nvSpPr>
            <p:spPr>
              <a:xfrm>
                <a:off x="76200" y="25437"/>
                <a:ext cx="660400" cy="588751"/>
              </a:xfrm>
              <a:prstGeom prst="rect">
                <a:avLst/>
              </a:prstGeom>
            </p:spPr>
            <p:txBody>
              <a:bodyPr anchor="ctr" rtlCol="false" tIns="50800" lIns="50800" bIns="50800" rIns="50800"/>
              <a:lstStyle/>
              <a:p>
                <a:pPr algn="ctr" marL="0" indent="0" lvl="0">
                  <a:lnSpc>
                    <a:spcPts val="2659"/>
                  </a:lnSpc>
                </a:pPr>
              </a:p>
            </p:txBody>
          </p:sp>
        </p:grpSp>
        <p:sp>
          <p:nvSpPr>
            <p:cNvPr name="TextBox 23" id="23"/>
            <p:cNvSpPr txBox="true"/>
            <p:nvPr/>
          </p:nvSpPr>
          <p:spPr>
            <a:xfrm rot="0">
              <a:off x="175623" y="235561"/>
              <a:ext cx="644736" cy="321241"/>
            </a:xfrm>
            <a:prstGeom prst="rect">
              <a:avLst/>
            </a:prstGeom>
          </p:spPr>
          <p:txBody>
            <a:bodyPr anchor="t" rtlCol="false" tIns="0" lIns="0" bIns="0" rIns="0">
              <a:spAutoFit/>
            </a:bodyPr>
            <a:lstStyle/>
            <a:p>
              <a:pPr algn="ctr" marL="0" indent="0" lvl="0">
                <a:lnSpc>
                  <a:spcPts val="1833"/>
                </a:lnSpc>
              </a:pPr>
              <a:r>
                <a:rPr lang="en-US" sz="1421" spc="-4">
                  <a:solidFill>
                    <a:srgbClr val="FFFFFF"/>
                  </a:solidFill>
                  <a:latin typeface="Poppins"/>
                  <a:ea typeface="Poppins"/>
                  <a:cs typeface="Poppins"/>
                  <a:sym typeface="Poppins"/>
                </a:rPr>
                <a:t>01</a:t>
              </a:r>
            </a:p>
          </p:txBody>
        </p:sp>
      </p:grpSp>
      <p:grpSp>
        <p:nvGrpSpPr>
          <p:cNvPr name="Group 24" id="24"/>
          <p:cNvGrpSpPr/>
          <p:nvPr/>
        </p:nvGrpSpPr>
        <p:grpSpPr>
          <a:xfrm rot="0">
            <a:off x="8047037" y="5050179"/>
            <a:ext cx="746986" cy="622848"/>
            <a:chOff x="0" y="0"/>
            <a:chExt cx="995981" cy="830463"/>
          </a:xfrm>
        </p:grpSpPr>
        <p:grpSp>
          <p:nvGrpSpPr>
            <p:cNvPr name="Group 25" id="25"/>
            <p:cNvGrpSpPr/>
            <p:nvPr/>
          </p:nvGrpSpPr>
          <p:grpSpPr>
            <a:xfrm rot="0">
              <a:off x="0" y="0"/>
              <a:ext cx="995981" cy="830463"/>
              <a:chOff x="0" y="0"/>
              <a:chExt cx="812800" cy="677724"/>
            </a:xfrm>
          </p:grpSpPr>
          <p:sp>
            <p:nvSpPr>
              <p:cNvPr name="Freeform 26" id="26"/>
              <p:cNvSpPr/>
              <p:nvPr/>
            </p:nvSpPr>
            <p:spPr>
              <a:xfrm flipH="false" flipV="false" rot="0">
                <a:off x="0" y="0"/>
                <a:ext cx="812800" cy="677724"/>
              </a:xfrm>
              <a:custGeom>
                <a:avLst/>
                <a:gdLst/>
                <a:ahLst/>
                <a:cxnLst/>
                <a:rect r="r" b="b" t="t" l="l"/>
                <a:pathLst>
                  <a:path h="677724" w="812800">
                    <a:moveTo>
                      <a:pt x="406400" y="0"/>
                    </a:moveTo>
                    <a:cubicBezTo>
                      <a:pt x="181951" y="0"/>
                      <a:pt x="0" y="151714"/>
                      <a:pt x="0" y="338862"/>
                    </a:cubicBezTo>
                    <a:cubicBezTo>
                      <a:pt x="0" y="526011"/>
                      <a:pt x="181951" y="677724"/>
                      <a:pt x="406400" y="677724"/>
                    </a:cubicBezTo>
                    <a:cubicBezTo>
                      <a:pt x="630849" y="677724"/>
                      <a:pt x="812800" y="526011"/>
                      <a:pt x="812800" y="338862"/>
                    </a:cubicBezTo>
                    <a:cubicBezTo>
                      <a:pt x="812800" y="151714"/>
                      <a:pt x="630849" y="0"/>
                      <a:pt x="406400" y="0"/>
                    </a:cubicBezTo>
                    <a:close/>
                  </a:path>
                </a:pathLst>
              </a:custGeom>
              <a:solidFill>
                <a:srgbClr val="FFFFFF"/>
              </a:solidFill>
              <a:ln w="47625" cap="sq">
                <a:gradFill>
                  <a:gsLst>
                    <a:gs pos="0">
                      <a:srgbClr val="293E9C">
                        <a:alpha val="100000"/>
                      </a:srgbClr>
                    </a:gs>
                    <a:gs pos="100000">
                      <a:srgbClr val="3A58E4">
                        <a:alpha val="100000"/>
                      </a:srgbClr>
                    </a:gs>
                  </a:gsLst>
                  <a:path path="circle">
                    <a:fillToRect l="0" r="100000" t="0" b="100000"/>
                  </a:path>
                  <a:tileRect r="0" l="-100000" b="0" t="-100000"/>
                </a:gradFill>
                <a:prstDash val="solid"/>
                <a:miter/>
              </a:ln>
            </p:spPr>
          </p:sp>
          <p:sp>
            <p:nvSpPr>
              <p:cNvPr name="TextBox 27" id="27"/>
              <p:cNvSpPr txBox="true"/>
              <p:nvPr/>
            </p:nvSpPr>
            <p:spPr>
              <a:xfrm>
                <a:off x="76200" y="25437"/>
                <a:ext cx="660400" cy="588751"/>
              </a:xfrm>
              <a:prstGeom prst="rect">
                <a:avLst/>
              </a:prstGeom>
            </p:spPr>
            <p:txBody>
              <a:bodyPr anchor="ctr" rtlCol="false" tIns="50800" lIns="50800" bIns="50800" rIns="50800"/>
              <a:lstStyle/>
              <a:p>
                <a:pPr algn="ctr" marL="0" indent="0" lvl="0">
                  <a:lnSpc>
                    <a:spcPts val="2659"/>
                  </a:lnSpc>
                </a:pPr>
              </a:p>
            </p:txBody>
          </p:sp>
        </p:grpSp>
        <p:sp>
          <p:nvSpPr>
            <p:cNvPr name="TextBox 28" id="28"/>
            <p:cNvSpPr txBox="true"/>
            <p:nvPr/>
          </p:nvSpPr>
          <p:spPr>
            <a:xfrm rot="0">
              <a:off x="175623" y="235561"/>
              <a:ext cx="644736" cy="321241"/>
            </a:xfrm>
            <a:prstGeom prst="rect">
              <a:avLst/>
            </a:prstGeom>
          </p:spPr>
          <p:txBody>
            <a:bodyPr anchor="t" rtlCol="false" tIns="0" lIns="0" bIns="0" rIns="0">
              <a:spAutoFit/>
            </a:bodyPr>
            <a:lstStyle/>
            <a:p>
              <a:pPr algn="ctr" marL="0" indent="0" lvl="0">
                <a:lnSpc>
                  <a:spcPts val="1833"/>
                </a:lnSpc>
              </a:pPr>
              <a:r>
                <a:rPr lang="en-US" sz="1421" spc="-4">
                  <a:gradFill>
                    <a:gsLst>
                      <a:gs pos="0">
                        <a:srgbClr val="293E9C">
                          <a:alpha val="100000"/>
                        </a:srgbClr>
                      </a:gs>
                      <a:gs pos="100000">
                        <a:srgbClr val="3A58E4">
                          <a:alpha val="100000"/>
                        </a:srgbClr>
                      </a:gs>
                    </a:gsLst>
                    <a:path path="circle">
                      <a:fillToRect l="0" r="100000" t="0" b="100000"/>
                    </a:path>
                    <a:tileRect r="0" l="-100000" b="0" t="-100000"/>
                  </a:gradFill>
                  <a:latin typeface="Poppins"/>
                  <a:ea typeface="Poppins"/>
                  <a:cs typeface="Poppins"/>
                  <a:sym typeface="Poppins"/>
                </a:rPr>
                <a:t>02</a:t>
              </a:r>
            </a:p>
          </p:txBody>
        </p:sp>
      </p:grpSp>
      <p:grpSp>
        <p:nvGrpSpPr>
          <p:cNvPr name="Group 29" id="29"/>
          <p:cNvGrpSpPr/>
          <p:nvPr/>
        </p:nvGrpSpPr>
        <p:grpSpPr>
          <a:xfrm rot="0">
            <a:off x="11919608" y="5050179"/>
            <a:ext cx="746986" cy="622848"/>
            <a:chOff x="0" y="0"/>
            <a:chExt cx="995981" cy="830463"/>
          </a:xfrm>
        </p:grpSpPr>
        <p:grpSp>
          <p:nvGrpSpPr>
            <p:cNvPr name="Group 30" id="30"/>
            <p:cNvGrpSpPr/>
            <p:nvPr/>
          </p:nvGrpSpPr>
          <p:grpSpPr>
            <a:xfrm rot="0">
              <a:off x="0" y="0"/>
              <a:ext cx="995981" cy="830463"/>
              <a:chOff x="0" y="0"/>
              <a:chExt cx="812800" cy="677724"/>
            </a:xfrm>
          </p:grpSpPr>
          <p:sp>
            <p:nvSpPr>
              <p:cNvPr name="Freeform 31" id="31"/>
              <p:cNvSpPr/>
              <p:nvPr/>
            </p:nvSpPr>
            <p:spPr>
              <a:xfrm flipH="false" flipV="false" rot="0">
                <a:off x="0" y="0"/>
                <a:ext cx="812800" cy="677724"/>
              </a:xfrm>
              <a:custGeom>
                <a:avLst/>
                <a:gdLst/>
                <a:ahLst/>
                <a:cxnLst/>
                <a:rect r="r" b="b" t="t" l="l"/>
                <a:pathLst>
                  <a:path h="677724" w="812800">
                    <a:moveTo>
                      <a:pt x="406400" y="0"/>
                    </a:moveTo>
                    <a:cubicBezTo>
                      <a:pt x="181951" y="0"/>
                      <a:pt x="0" y="151714"/>
                      <a:pt x="0" y="338862"/>
                    </a:cubicBezTo>
                    <a:cubicBezTo>
                      <a:pt x="0" y="526011"/>
                      <a:pt x="181951" y="677724"/>
                      <a:pt x="406400" y="677724"/>
                    </a:cubicBezTo>
                    <a:cubicBezTo>
                      <a:pt x="630849" y="677724"/>
                      <a:pt x="812800" y="526011"/>
                      <a:pt x="812800" y="338862"/>
                    </a:cubicBezTo>
                    <a:cubicBezTo>
                      <a:pt x="812800" y="151714"/>
                      <a:pt x="630849" y="0"/>
                      <a:pt x="406400" y="0"/>
                    </a:cubicBez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a:ln cap="sq">
                <a:noFill/>
                <a:prstDash val="solid"/>
                <a:miter/>
              </a:ln>
            </p:spPr>
          </p:sp>
          <p:sp>
            <p:nvSpPr>
              <p:cNvPr name="TextBox 32" id="32"/>
              <p:cNvSpPr txBox="true"/>
              <p:nvPr/>
            </p:nvSpPr>
            <p:spPr>
              <a:xfrm>
                <a:off x="76200" y="25437"/>
                <a:ext cx="660400" cy="588751"/>
              </a:xfrm>
              <a:prstGeom prst="rect">
                <a:avLst/>
              </a:prstGeom>
            </p:spPr>
            <p:txBody>
              <a:bodyPr anchor="ctr" rtlCol="false" tIns="50800" lIns="50800" bIns="50800" rIns="50800"/>
              <a:lstStyle/>
              <a:p>
                <a:pPr algn="ctr" marL="0" indent="0" lvl="0">
                  <a:lnSpc>
                    <a:spcPts val="2659"/>
                  </a:lnSpc>
                </a:pPr>
              </a:p>
            </p:txBody>
          </p:sp>
        </p:grpSp>
        <p:sp>
          <p:nvSpPr>
            <p:cNvPr name="TextBox 33" id="33"/>
            <p:cNvSpPr txBox="true"/>
            <p:nvPr/>
          </p:nvSpPr>
          <p:spPr>
            <a:xfrm rot="0">
              <a:off x="175623" y="235561"/>
              <a:ext cx="644736" cy="321241"/>
            </a:xfrm>
            <a:prstGeom prst="rect">
              <a:avLst/>
            </a:prstGeom>
          </p:spPr>
          <p:txBody>
            <a:bodyPr anchor="t" rtlCol="false" tIns="0" lIns="0" bIns="0" rIns="0">
              <a:spAutoFit/>
            </a:bodyPr>
            <a:lstStyle/>
            <a:p>
              <a:pPr algn="ctr" marL="0" indent="0" lvl="0">
                <a:lnSpc>
                  <a:spcPts val="1833"/>
                </a:lnSpc>
              </a:pPr>
              <a:r>
                <a:rPr lang="en-US" sz="1421" spc="-4">
                  <a:solidFill>
                    <a:srgbClr val="FFFFFF"/>
                  </a:solidFill>
                  <a:latin typeface="Poppins"/>
                  <a:ea typeface="Poppins"/>
                  <a:cs typeface="Poppins"/>
                  <a:sym typeface="Poppins"/>
                </a:rPr>
                <a:t>03</a:t>
              </a:r>
            </a:p>
          </p:txBody>
        </p:sp>
      </p:grpSp>
      <p:grpSp>
        <p:nvGrpSpPr>
          <p:cNvPr name="Group 34" id="34"/>
          <p:cNvGrpSpPr/>
          <p:nvPr/>
        </p:nvGrpSpPr>
        <p:grpSpPr>
          <a:xfrm rot="0">
            <a:off x="15791068" y="5050179"/>
            <a:ext cx="746986" cy="622848"/>
            <a:chOff x="0" y="0"/>
            <a:chExt cx="995981" cy="830463"/>
          </a:xfrm>
        </p:grpSpPr>
        <p:grpSp>
          <p:nvGrpSpPr>
            <p:cNvPr name="Group 35" id="35"/>
            <p:cNvGrpSpPr/>
            <p:nvPr/>
          </p:nvGrpSpPr>
          <p:grpSpPr>
            <a:xfrm rot="0">
              <a:off x="0" y="0"/>
              <a:ext cx="995981" cy="830463"/>
              <a:chOff x="0" y="0"/>
              <a:chExt cx="812800" cy="677724"/>
            </a:xfrm>
          </p:grpSpPr>
          <p:sp>
            <p:nvSpPr>
              <p:cNvPr name="Freeform 36" id="36"/>
              <p:cNvSpPr/>
              <p:nvPr/>
            </p:nvSpPr>
            <p:spPr>
              <a:xfrm flipH="false" flipV="false" rot="0">
                <a:off x="0" y="0"/>
                <a:ext cx="812800" cy="677724"/>
              </a:xfrm>
              <a:custGeom>
                <a:avLst/>
                <a:gdLst/>
                <a:ahLst/>
                <a:cxnLst/>
                <a:rect r="r" b="b" t="t" l="l"/>
                <a:pathLst>
                  <a:path h="677724" w="812800">
                    <a:moveTo>
                      <a:pt x="406400" y="0"/>
                    </a:moveTo>
                    <a:cubicBezTo>
                      <a:pt x="181951" y="0"/>
                      <a:pt x="0" y="151714"/>
                      <a:pt x="0" y="338862"/>
                    </a:cubicBezTo>
                    <a:cubicBezTo>
                      <a:pt x="0" y="526011"/>
                      <a:pt x="181951" y="677724"/>
                      <a:pt x="406400" y="677724"/>
                    </a:cubicBezTo>
                    <a:cubicBezTo>
                      <a:pt x="630849" y="677724"/>
                      <a:pt x="812800" y="526011"/>
                      <a:pt x="812800" y="338862"/>
                    </a:cubicBezTo>
                    <a:cubicBezTo>
                      <a:pt x="812800" y="151714"/>
                      <a:pt x="630849" y="0"/>
                      <a:pt x="406400" y="0"/>
                    </a:cubicBezTo>
                    <a:close/>
                  </a:path>
                </a:pathLst>
              </a:custGeom>
              <a:solidFill>
                <a:srgbClr val="FFFFFF"/>
              </a:solidFill>
              <a:ln w="47625" cap="sq">
                <a:gradFill>
                  <a:gsLst>
                    <a:gs pos="0">
                      <a:srgbClr val="293E9C">
                        <a:alpha val="100000"/>
                      </a:srgbClr>
                    </a:gs>
                    <a:gs pos="100000">
                      <a:srgbClr val="3A58E4">
                        <a:alpha val="100000"/>
                      </a:srgbClr>
                    </a:gs>
                  </a:gsLst>
                  <a:path path="circle">
                    <a:fillToRect l="0" r="100000" t="0" b="100000"/>
                  </a:path>
                  <a:tileRect r="0" l="-100000" b="0" t="-100000"/>
                </a:gradFill>
                <a:prstDash val="solid"/>
                <a:miter/>
              </a:ln>
            </p:spPr>
          </p:sp>
          <p:sp>
            <p:nvSpPr>
              <p:cNvPr name="TextBox 37" id="37"/>
              <p:cNvSpPr txBox="true"/>
              <p:nvPr/>
            </p:nvSpPr>
            <p:spPr>
              <a:xfrm>
                <a:off x="76200" y="25437"/>
                <a:ext cx="660400" cy="588751"/>
              </a:xfrm>
              <a:prstGeom prst="rect">
                <a:avLst/>
              </a:prstGeom>
            </p:spPr>
            <p:txBody>
              <a:bodyPr anchor="ctr" rtlCol="false" tIns="50800" lIns="50800" bIns="50800" rIns="50800"/>
              <a:lstStyle/>
              <a:p>
                <a:pPr algn="ctr" marL="0" indent="0" lvl="0">
                  <a:lnSpc>
                    <a:spcPts val="2659"/>
                  </a:lnSpc>
                </a:pPr>
              </a:p>
            </p:txBody>
          </p:sp>
        </p:grpSp>
        <p:sp>
          <p:nvSpPr>
            <p:cNvPr name="TextBox 38" id="38"/>
            <p:cNvSpPr txBox="true"/>
            <p:nvPr/>
          </p:nvSpPr>
          <p:spPr>
            <a:xfrm rot="0">
              <a:off x="175623" y="235561"/>
              <a:ext cx="644736" cy="321241"/>
            </a:xfrm>
            <a:prstGeom prst="rect">
              <a:avLst/>
            </a:prstGeom>
          </p:spPr>
          <p:txBody>
            <a:bodyPr anchor="t" rtlCol="false" tIns="0" lIns="0" bIns="0" rIns="0">
              <a:spAutoFit/>
            </a:bodyPr>
            <a:lstStyle/>
            <a:p>
              <a:pPr algn="ctr" marL="0" indent="0" lvl="0">
                <a:lnSpc>
                  <a:spcPts val="1833"/>
                </a:lnSpc>
              </a:pPr>
              <a:r>
                <a:rPr lang="en-US" sz="1421" spc="-4">
                  <a:gradFill>
                    <a:gsLst>
                      <a:gs pos="0">
                        <a:srgbClr val="293E9C">
                          <a:alpha val="100000"/>
                        </a:srgbClr>
                      </a:gs>
                      <a:gs pos="100000">
                        <a:srgbClr val="3A58E4">
                          <a:alpha val="100000"/>
                        </a:srgbClr>
                      </a:gs>
                    </a:gsLst>
                    <a:path path="circle">
                      <a:fillToRect l="0" r="100000" t="0" b="100000"/>
                    </a:path>
                    <a:tileRect r="0" l="-100000" b="0" t="-100000"/>
                  </a:gradFill>
                  <a:latin typeface="Poppins"/>
                  <a:ea typeface="Poppins"/>
                  <a:cs typeface="Poppins"/>
                  <a:sym typeface="Poppins"/>
                </a:rPr>
                <a:t>04</a:t>
              </a:r>
            </a:p>
          </p:txBody>
        </p:sp>
      </p:grpSp>
      <p:sp>
        <p:nvSpPr>
          <p:cNvPr name="Freeform 39" id="39"/>
          <p:cNvSpPr/>
          <p:nvPr/>
        </p:nvSpPr>
        <p:spPr>
          <a:xfrm flipH="false" flipV="false" rot="0">
            <a:off x="0" y="328261"/>
            <a:ext cx="4715961" cy="4407280"/>
          </a:xfrm>
          <a:custGeom>
            <a:avLst/>
            <a:gdLst/>
            <a:ahLst/>
            <a:cxnLst/>
            <a:rect r="r" b="b" t="t" l="l"/>
            <a:pathLst>
              <a:path h="4407280" w="4715961">
                <a:moveTo>
                  <a:pt x="0" y="0"/>
                </a:moveTo>
                <a:lnTo>
                  <a:pt x="4715961" y="0"/>
                </a:lnTo>
                <a:lnTo>
                  <a:pt x="4715961" y="4407280"/>
                </a:lnTo>
                <a:lnTo>
                  <a:pt x="0" y="4407280"/>
                </a:lnTo>
                <a:lnTo>
                  <a:pt x="0" y="0"/>
                </a:lnTo>
                <a:close/>
              </a:path>
            </a:pathLst>
          </a:custGeom>
          <a:blipFill>
            <a:blip r:embed="rId2"/>
            <a:stretch>
              <a:fillRect l="0" t="0" r="0" b="0"/>
            </a:stretch>
          </a:blipFill>
        </p:spPr>
      </p:sp>
      <p:grpSp>
        <p:nvGrpSpPr>
          <p:cNvPr name="Group 40" id="40"/>
          <p:cNvGrpSpPr/>
          <p:nvPr/>
        </p:nvGrpSpPr>
        <p:grpSpPr>
          <a:xfrm rot="0">
            <a:off x="5545788" y="3193339"/>
            <a:ext cx="7196424" cy="248634"/>
            <a:chOff x="0" y="0"/>
            <a:chExt cx="9595232" cy="331512"/>
          </a:xfrm>
        </p:grpSpPr>
        <p:sp>
          <p:nvSpPr>
            <p:cNvPr name="TextBox 41" id="41"/>
            <p:cNvSpPr txBox="true"/>
            <p:nvPr/>
          </p:nvSpPr>
          <p:spPr>
            <a:xfrm rot="0">
              <a:off x="0" y="-20486"/>
              <a:ext cx="9378912" cy="351998"/>
            </a:xfrm>
            <a:prstGeom prst="rect">
              <a:avLst/>
            </a:prstGeom>
          </p:spPr>
          <p:txBody>
            <a:bodyPr anchor="t" rtlCol="false" tIns="0" lIns="0" bIns="0" rIns="0">
              <a:spAutoFit/>
            </a:bodyPr>
            <a:lstStyle/>
            <a:p>
              <a:pPr algn="l" marL="0" indent="0" lvl="0">
                <a:lnSpc>
                  <a:spcPts val="2117"/>
                </a:lnSpc>
              </a:pPr>
              <a:r>
                <a:rPr lang="en-US" b="true" sz="1512" spc="-37">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TECHNICAL STACK POWERING THE CUSTOMER LOYALTY BLUEPRINT ANALYSIS</a:t>
              </a:r>
            </a:p>
          </p:txBody>
        </p:sp>
      </p:grpSp>
      <p:sp>
        <p:nvSpPr>
          <p:cNvPr name="TextBox 42" id="42"/>
          <p:cNvSpPr txBox="true"/>
          <p:nvPr/>
        </p:nvSpPr>
        <p:spPr>
          <a:xfrm rot="0">
            <a:off x="2345222" y="5823520"/>
            <a:ext cx="1984104" cy="736471"/>
          </a:xfrm>
          <a:prstGeom prst="rect">
            <a:avLst/>
          </a:prstGeom>
        </p:spPr>
        <p:txBody>
          <a:bodyPr anchor="t" rtlCol="false" tIns="0" lIns="0" bIns="0" rIns="0">
            <a:spAutoFit/>
          </a:bodyPr>
          <a:lstStyle/>
          <a:p>
            <a:pPr algn="ctr" marL="0" indent="0" lvl="0">
              <a:lnSpc>
                <a:spcPts val="2881"/>
              </a:lnSpc>
            </a:pPr>
            <a:r>
              <a:rPr lang="en-US" b="true" sz="2233" spc="-6">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PYTHON (PANDAS)</a:t>
            </a:r>
          </a:p>
        </p:txBody>
      </p:sp>
      <p:sp>
        <p:nvSpPr>
          <p:cNvPr name="TextBox 43" id="43"/>
          <p:cNvSpPr txBox="true"/>
          <p:nvPr/>
        </p:nvSpPr>
        <p:spPr>
          <a:xfrm rot="0">
            <a:off x="2124549" y="6882523"/>
            <a:ext cx="2425450" cy="725805"/>
          </a:xfrm>
          <a:prstGeom prst="rect">
            <a:avLst/>
          </a:prstGeom>
        </p:spPr>
        <p:txBody>
          <a:bodyPr anchor="t" rtlCol="false" tIns="0" lIns="0" bIns="0" rIns="0">
            <a:spAutoFit/>
          </a:bodyPr>
          <a:lstStyle/>
          <a:p>
            <a:pPr algn="ctr" marL="0" indent="0" lvl="0">
              <a:lnSpc>
                <a:spcPts val="1934"/>
              </a:lnSpc>
            </a:pPr>
            <a:r>
              <a:rPr lang="en-US" sz="1499" spc="-4">
                <a:solidFill>
                  <a:srgbClr val="3A58E4"/>
                </a:solidFill>
                <a:latin typeface="Poppins"/>
                <a:ea typeface="Poppins"/>
                <a:cs typeface="Poppins"/>
                <a:sym typeface="Poppins"/>
              </a:rPr>
              <a:t>Data cleaning, transformation, and exploratory analysis</a:t>
            </a:r>
          </a:p>
        </p:txBody>
      </p:sp>
      <p:sp>
        <p:nvSpPr>
          <p:cNvPr name="TextBox 44" id="44"/>
          <p:cNvSpPr txBox="true"/>
          <p:nvPr/>
        </p:nvSpPr>
        <p:spPr>
          <a:xfrm rot="0">
            <a:off x="6215753" y="6203378"/>
            <a:ext cx="1984104" cy="356614"/>
          </a:xfrm>
          <a:prstGeom prst="rect">
            <a:avLst/>
          </a:prstGeom>
        </p:spPr>
        <p:txBody>
          <a:bodyPr anchor="t" rtlCol="false" tIns="0" lIns="0" bIns="0" rIns="0">
            <a:spAutoFit/>
          </a:bodyPr>
          <a:lstStyle/>
          <a:p>
            <a:pPr algn="ctr" marL="0" indent="0" lvl="0">
              <a:lnSpc>
                <a:spcPts val="2752"/>
              </a:lnSpc>
            </a:pPr>
            <a:r>
              <a:rPr lang="en-US" b="true" sz="2133" spc="-6">
                <a:solidFill>
                  <a:srgbClr val="FFFFFF"/>
                </a:solidFill>
                <a:latin typeface="Poppins Bold"/>
                <a:ea typeface="Poppins Bold"/>
                <a:cs typeface="Poppins Bold"/>
                <a:sym typeface="Poppins Bold"/>
              </a:rPr>
              <a:t>MYSQL </a:t>
            </a:r>
          </a:p>
        </p:txBody>
      </p:sp>
      <p:sp>
        <p:nvSpPr>
          <p:cNvPr name="TextBox 45" id="45"/>
          <p:cNvSpPr txBox="true"/>
          <p:nvPr/>
        </p:nvSpPr>
        <p:spPr>
          <a:xfrm rot="0">
            <a:off x="5995080" y="6882523"/>
            <a:ext cx="2425450" cy="725805"/>
          </a:xfrm>
          <a:prstGeom prst="rect">
            <a:avLst/>
          </a:prstGeom>
        </p:spPr>
        <p:txBody>
          <a:bodyPr anchor="t" rtlCol="false" tIns="0" lIns="0" bIns="0" rIns="0">
            <a:spAutoFit/>
          </a:bodyPr>
          <a:lstStyle/>
          <a:p>
            <a:pPr algn="ctr" marL="0" indent="0" lvl="0">
              <a:lnSpc>
                <a:spcPts val="1934"/>
              </a:lnSpc>
            </a:pPr>
            <a:r>
              <a:rPr lang="en-US" sz="1499" spc="-4">
                <a:solidFill>
                  <a:srgbClr val="FFFFFF"/>
                </a:solidFill>
                <a:latin typeface="Poppins"/>
                <a:ea typeface="Poppins"/>
                <a:cs typeface="Poppins"/>
                <a:sym typeface="Poppins"/>
              </a:rPr>
              <a:t>Database querying, aggregation, and data extraction</a:t>
            </a:r>
          </a:p>
        </p:txBody>
      </p:sp>
      <p:sp>
        <p:nvSpPr>
          <p:cNvPr name="TextBox 46" id="46"/>
          <p:cNvSpPr txBox="true"/>
          <p:nvPr/>
        </p:nvSpPr>
        <p:spPr>
          <a:xfrm rot="0">
            <a:off x="9901910" y="6149656"/>
            <a:ext cx="2354710" cy="410335"/>
          </a:xfrm>
          <a:prstGeom prst="rect">
            <a:avLst/>
          </a:prstGeom>
        </p:spPr>
        <p:txBody>
          <a:bodyPr anchor="t" rtlCol="false" tIns="0" lIns="0" bIns="0" rIns="0">
            <a:spAutoFit/>
          </a:bodyPr>
          <a:lstStyle/>
          <a:p>
            <a:pPr algn="ctr" marL="0" indent="0" lvl="0">
              <a:lnSpc>
                <a:spcPts val="3139"/>
              </a:lnSpc>
            </a:pPr>
            <a:r>
              <a:rPr lang="en-US" b="true" sz="2433" spc="-7">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POWER BI</a:t>
            </a:r>
          </a:p>
        </p:txBody>
      </p:sp>
      <p:sp>
        <p:nvSpPr>
          <p:cNvPr name="TextBox 47" id="47"/>
          <p:cNvSpPr txBox="true"/>
          <p:nvPr/>
        </p:nvSpPr>
        <p:spPr>
          <a:xfrm rot="0">
            <a:off x="9866540" y="6882523"/>
            <a:ext cx="2425450" cy="725805"/>
          </a:xfrm>
          <a:prstGeom prst="rect">
            <a:avLst/>
          </a:prstGeom>
        </p:spPr>
        <p:txBody>
          <a:bodyPr anchor="t" rtlCol="false" tIns="0" lIns="0" bIns="0" rIns="0">
            <a:spAutoFit/>
          </a:bodyPr>
          <a:lstStyle/>
          <a:p>
            <a:pPr algn="ctr" marL="0" indent="0" lvl="0">
              <a:lnSpc>
                <a:spcPts val="1934"/>
              </a:lnSpc>
            </a:pPr>
            <a:r>
              <a:rPr lang="en-US" sz="1499" spc="-4">
                <a:solidFill>
                  <a:srgbClr val="3A58E4"/>
                </a:solidFill>
                <a:latin typeface="Poppins"/>
                <a:ea typeface="Poppins"/>
                <a:cs typeface="Poppins"/>
                <a:sym typeface="Poppins"/>
              </a:rPr>
              <a:t>Interactive dashboard design and data visualization</a:t>
            </a:r>
          </a:p>
        </p:txBody>
      </p:sp>
      <p:sp>
        <p:nvSpPr>
          <p:cNvPr name="TextBox 48" id="48"/>
          <p:cNvSpPr txBox="true"/>
          <p:nvPr/>
        </p:nvSpPr>
        <p:spPr>
          <a:xfrm rot="0">
            <a:off x="13958674" y="5823520"/>
            <a:ext cx="1984104" cy="736471"/>
          </a:xfrm>
          <a:prstGeom prst="rect">
            <a:avLst/>
          </a:prstGeom>
        </p:spPr>
        <p:txBody>
          <a:bodyPr anchor="t" rtlCol="false" tIns="0" lIns="0" bIns="0" rIns="0">
            <a:spAutoFit/>
          </a:bodyPr>
          <a:lstStyle/>
          <a:p>
            <a:pPr algn="ctr" marL="0" indent="0" lvl="0">
              <a:lnSpc>
                <a:spcPts val="2881"/>
              </a:lnSpc>
            </a:pPr>
            <a:r>
              <a:rPr lang="en-US" b="true" sz="2233" spc="-6">
                <a:solidFill>
                  <a:srgbClr val="FFFFFF"/>
                </a:solidFill>
                <a:latin typeface="Poppins Bold"/>
                <a:ea typeface="Poppins Bold"/>
                <a:cs typeface="Poppins Bold"/>
                <a:sym typeface="Poppins Bold"/>
              </a:rPr>
              <a:t>JUPYTER NOTEBOOK</a:t>
            </a:r>
          </a:p>
        </p:txBody>
      </p:sp>
      <p:sp>
        <p:nvSpPr>
          <p:cNvPr name="TextBox 49" id="49"/>
          <p:cNvSpPr txBox="true"/>
          <p:nvPr/>
        </p:nvSpPr>
        <p:spPr>
          <a:xfrm rot="0">
            <a:off x="13738001" y="7120648"/>
            <a:ext cx="2425450" cy="487680"/>
          </a:xfrm>
          <a:prstGeom prst="rect">
            <a:avLst/>
          </a:prstGeom>
        </p:spPr>
        <p:txBody>
          <a:bodyPr anchor="t" rtlCol="false" tIns="0" lIns="0" bIns="0" rIns="0">
            <a:spAutoFit/>
          </a:bodyPr>
          <a:lstStyle/>
          <a:p>
            <a:pPr algn="ctr" marL="0" indent="0" lvl="0">
              <a:lnSpc>
                <a:spcPts val="1934"/>
              </a:lnSpc>
            </a:pPr>
            <a:r>
              <a:rPr lang="en-US" sz="1499" spc="-4">
                <a:solidFill>
                  <a:srgbClr val="FFFFFF"/>
                </a:solidFill>
                <a:latin typeface="Poppins"/>
                <a:ea typeface="Poppins"/>
                <a:cs typeface="Poppins"/>
                <a:sym typeface="Poppins"/>
              </a:rPr>
              <a:t>Exploratory data analysis and documentation</a:t>
            </a:r>
          </a:p>
        </p:txBody>
      </p:sp>
      <p:sp>
        <p:nvSpPr>
          <p:cNvPr name="TextBox 50" id="50"/>
          <p:cNvSpPr txBox="true"/>
          <p:nvPr/>
        </p:nvSpPr>
        <p:spPr>
          <a:xfrm rot="0">
            <a:off x="3363658" y="1982649"/>
            <a:ext cx="11560683" cy="822411"/>
          </a:xfrm>
          <a:prstGeom prst="rect">
            <a:avLst/>
          </a:prstGeom>
        </p:spPr>
        <p:txBody>
          <a:bodyPr anchor="t" rtlCol="false" tIns="0" lIns="0" bIns="0" rIns="0">
            <a:spAutoFit/>
          </a:bodyPr>
          <a:lstStyle/>
          <a:p>
            <a:pPr algn="ctr" marL="0" indent="0" lvl="0">
              <a:lnSpc>
                <a:spcPts val="6128"/>
              </a:lnSpc>
            </a:pPr>
            <a:r>
              <a:rPr lang="en-US" sz="6253" spc="-400">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Tools and Methodologies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741311" y="0"/>
            <a:ext cx="546689" cy="7173190"/>
            <a:chOff x="0" y="0"/>
            <a:chExt cx="143984" cy="1889235"/>
          </a:xfrm>
        </p:grpSpPr>
        <p:sp>
          <p:nvSpPr>
            <p:cNvPr name="Freeform 3" id="3"/>
            <p:cNvSpPr/>
            <p:nvPr/>
          </p:nvSpPr>
          <p:spPr>
            <a:xfrm flipH="false" flipV="false" rot="0">
              <a:off x="0" y="0"/>
              <a:ext cx="143984" cy="1889235"/>
            </a:xfrm>
            <a:custGeom>
              <a:avLst/>
              <a:gdLst/>
              <a:ahLst/>
              <a:cxnLst/>
              <a:rect r="r" b="b" t="t" l="l"/>
              <a:pathLst>
                <a:path h="1889235" w="143984">
                  <a:moveTo>
                    <a:pt x="0" y="0"/>
                  </a:moveTo>
                  <a:lnTo>
                    <a:pt x="143984" y="0"/>
                  </a:lnTo>
                  <a:lnTo>
                    <a:pt x="143984" y="1889235"/>
                  </a:lnTo>
                  <a:lnTo>
                    <a:pt x="0" y="1889235"/>
                  </a:ln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p:spPr>
        </p:sp>
        <p:sp>
          <p:nvSpPr>
            <p:cNvPr name="TextBox 4" id="4"/>
            <p:cNvSpPr txBox="true"/>
            <p:nvPr/>
          </p:nvSpPr>
          <p:spPr>
            <a:xfrm>
              <a:off x="0" y="-38100"/>
              <a:ext cx="143984" cy="1927335"/>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AutoShape 5" id="5"/>
          <p:cNvSpPr/>
          <p:nvPr/>
        </p:nvSpPr>
        <p:spPr>
          <a:xfrm flipH="true">
            <a:off x="4442685" y="0"/>
            <a:ext cx="0" cy="10287000"/>
          </a:xfrm>
          <a:prstGeom prst="line">
            <a:avLst/>
          </a:prstGeom>
          <a:ln cap="rnd" w="19050">
            <a:solidFill>
              <a:srgbClr val="3A58E4"/>
            </a:solidFill>
            <a:prstDash val="solid"/>
            <a:headEnd type="none" len="sm" w="sm"/>
            <a:tailEnd type="none" len="sm" w="sm"/>
          </a:ln>
        </p:spPr>
      </p:sp>
      <p:sp>
        <p:nvSpPr>
          <p:cNvPr name="AutoShape 6" id="6"/>
          <p:cNvSpPr/>
          <p:nvPr/>
        </p:nvSpPr>
        <p:spPr>
          <a:xfrm>
            <a:off x="8872264" y="0"/>
            <a:ext cx="0" cy="7163665"/>
          </a:xfrm>
          <a:prstGeom prst="line">
            <a:avLst/>
          </a:prstGeom>
          <a:ln cap="rnd" w="19050">
            <a:solidFill>
              <a:srgbClr val="3A58E4"/>
            </a:solidFill>
            <a:prstDash val="solid"/>
            <a:headEnd type="none" len="sm" w="sm"/>
            <a:tailEnd type="none" len="sm" w="sm"/>
          </a:ln>
        </p:spPr>
      </p:sp>
      <p:sp>
        <p:nvSpPr>
          <p:cNvPr name="AutoShape 7" id="7"/>
          <p:cNvSpPr/>
          <p:nvPr/>
        </p:nvSpPr>
        <p:spPr>
          <a:xfrm>
            <a:off x="13301844" y="0"/>
            <a:ext cx="0" cy="7163665"/>
          </a:xfrm>
          <a:prstGeom prst="line">
            <a:avLst/>
          </a:prstGeom>
          <a:ln cap="rnd" w="19050">
            <a:solidFill>
              <a:srgbClr val="3A58E4"/>
            </a:solidFill>
            <a:prstDash val="solid"/>
            <a:headEnd type="none" len="sm" w="sm"/>
            <a:tailEnd type="none" len="sm" w="sm"/>
          </a:ln>
        </p:spPr>
      </p:sp>
      <p:sp>
        <p:nvSpPr>
          <p:cNvPr name="AutoShape 8" id="8"/>
          <p:cNvSpPr/>
          <p:nvPr/>
        </p:nvSpPr>
        <p:spPr>
          <a:xfrm>
            <a:off x="0" y="7173190"/>
            <a:ext cx="18288000" cy="0"/>
          </a:xfrm>
          <a:prstGeom prst="line">
            <a:avLst/>
          </a:prstGeom>
          <a:ln cap="rnd" w="19050">
            <a:solidFill>
              <a:srgbClr val="3A58E4"/>
            </a:solidFill>
            <a:prstDash val="solid"/>
            <a:headEnd type="none" len="sm" w="sm"/>
            <a:tailEnd type="none" len="sm" w="sm"/>
          </a:ln>
        </p:spPr>
      </p:sp>
      <p:grpSp>
        <p:nvGrpSpPr>
          <p:cNvPr name="Group 9" id="9"/>
          <p:cNvGrpSpPr/>
          <p:nvPr/>
        </p:nvGrpSpPr>
        <p:grpSpPr>
          <a:xfrm rot="0">
            <a:off x="16305" y="9608"/>
            <a:ext cx="1197405" cy="1196165"/>
            <a:chOff x="0" y="0"/>
            <a:chExt cx="1596540" cy="1594886"/>
          </a:xfrm>
        </p:grpSpPr>
        <p:grpSp>
          <p:nvGrpSpPr>
            <p:cNvPr name="Group 10" id="10"/>
            <p:cNvGrpSpPr/>
            <p:nvPr/>
          </p:nvGrpSpPr>
          <p:grpSpPr>
            <a:xfrm rot="0">
              <a:off x="0" y="0"/>
              <a:ext cx="1596540" cy="1594886"/>
              <a:chOff x="0" y="0"/>
              <a:chExt cx="787566" cy="786750"/>
            </a:xfrm>
          </p:grpSpPr>
          <p:sp>
            <p:nvSpPr>
              <p:cNvPr name="Freeform 11" id="11"/>
              <p:cNvSpPr/>
              <p:nvPr/>
            </p:nvSpPr>
            <p:spPr>
              <a:xfrm flipH="false" flipV="false" rot="0">
                <a:off x="0" y="0"/>
                <a:ext cx="787566" cy="786750"/>
              </a:xfrm>
              <a:custGeom>
                <a:avLst/>
                <a:gdLst/>
                <a:ahLst/>
                <a:cxnLst/>
                <a:rect r="r" b="b" t="t" l="l"/>
                <a:pathLst>
                  <a:path h="786750" w="787566">
                    <a:moveTo>
                      <a:pt x="0" y="0"/>
                    </a:moveTo>
                    <a:lnTo>
                      <a:pt x="787566" y="0"/>
                    </a:lnTo>
                    <a:lnTo>
                      <a:pt x="787566" y="786750"/>
                    </a:lnTo>
                    <a:lnTo>
                      <a:pt x="0" y="786750"/>
                    </a:ln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p:spPr>
          </p:sp>
          <p:sp>
            <p:nvSpPr>
              <p:cNvPr name="TextBox 12" id="12"/>
              <p:cNvSpPr txBox="true"/>
              <p:nvPr/>
            </p:nvSpPr>
            <p:spPr>
              <a:xfrm>
                <a:off x="0" y="-38100"/>
                <a:ext cx="787566" cy="82485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3" id="13"/>
            <p:cNvSpPr txBox="true"/>
            <p:nvPr/>
          </p:nvSpPr>
          <p:spPr>
            <a:xfrm rot="0">
              <a:off x="206583" y="454809"/>
              <a:ext cx="1183375" cy="770992"/>
            </a:xfrm>
            <a:prstGeom prst="rect">
              <a:avLst/>
            </a:prstGeom>
          </p:spPr>
          <p:txBody>
            <a:bodyPr anchor="t" rtlCol="false" tIns="0" lIns="0" bIns="0" rIns="0">
              <a:spAutoFit/>
            </a:bodyPr>
            <a:lstStyle/>
            <a:p>
              <a:pPr algn="ctr" marL="0" indent="0" lvl="0">
                <a:lnSpc>
                  <a:spcPts val="4156"/>
                </a:lnSpc>
              </a:pPr>
              <a:r>
                <a:rPr lang="en-US" sz="4241" spc="-271">
                  <a:solidFill>
                    <a:srgbClr val="FFFFFF"/>
                  </a:solidFill>
                  <a:latin typeface="Bricolage Grotesque"/>
                  <a:ea typeface="Bricolage Grotesque"/>
                  <a:cs typeface="Bricolage Grotesque"/>
                  <a:sym typeface="Bricolage Grotesque"/>
                </a:rPr>
                <a:t>01</a:t>
              </a:r>
            </a:p>
          </p:txBody>
        </p:sp>
      </p:grpSp>
      <p:grpSp>
        <p:nvGrpSpPr>
          <p:cNvPr name="Group 14" id="14"/>
          <p:cNvGrpSpPr/>
          <p:nvPr/>
        </p:nvGrpSpPr>
        <p:grpSpPr>
          <a:xfrm rot="0">
            <a:off x="4442685" y="9608"/>
            <a:ext cx="1197405" cy="1196165"/>
            <a:chOff x="0" y="0"/>
            <a:chExt cx="1596540" cy="1594886"/>
          </a:xfrm>
        </p:grpSpPr>
        <p:grpSp>
          <p:nvGrpSpPr>
            <p:cNvPr name="Group 15" id="15"/>
            <p:cNvGrpSpPr/>
            <p:nvPr/>
          </p:nvGrpSpPr>
          <p:grpSpPr>
            <a:xfrm rot="0">
              <a:off x="0" y="0"/>
              <a:ext cx="1596540" cy="1594886"/>
              <a:chOff x="0" y="0"/>
              <a:chExt cx="787566" cy="786750"/>
            </a:xfrm>
          </p:grpSpPr>
          <p:sp>
            <p:nvSpPr>
              <p:cNvPr name="Freeform 16" id="16"/>
              <p:cNvSpPr/>
              <p:nvPr/>
            </p:nvSpPr>
            <p:spPr>
              <a:xfrm flipH="false" flipV="false" rot="0">
                <a:off x="0" y="0"/>
                <a:ext cx="787566" cy="786750"/>
              </a:xfrm>
              <a:custGeom>
                <a:avLst/>
                <a:gdLst/>
                <a:ahLst/>
                <a:cxnLst/>
                <a:rect r="r" b="b" t="t" l="l"/>
                <a:pathLst>
                  <a:path h="786750" w="787566">
                    <a:moveTo>
                      <a:pt x="0" y="0"/>
                    </a:moveTo>
                    <a:lnTo>
                      <a:pt x="787566" y="0"/>
                    </a:lnTo>
                    <a:lnTo>
                      <a:pt x="787566" y="786750"/>
                    </a:lnTo>
                    <a:lnTo>
                      <a:pt x="0" y="786750"/>
                    </a:ln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p:spPr>
          </p:sp>
          <p:sp>
            <p:nvSpPr>
              <p:cNvPr name="TextBox 17" id="17"/>
              <p:cNvSpPr txBox="true"/>
              <p:nvPr/>
            </p:nvSpPr>
            <p:spPr>
              <a:xfrm>
                <a:off x="0" y="-38100"/>
                <a:ext cx="787566" cy="82485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8" id="18"/>
            <p:cNvSpPr txBox="true"/>
            <p:nvPr/>
          </p:nvSpPr>
          <p:spPr>
            <a:xfrm rot="0">
              <a:off x="206583" y="454809"/>
              <a:ext cx="1183375" cy="770992"/>
            </a:xfrm>
            <a:prstGeom prst="rect">
              <a:avLst/>
            </a:prstGeom>
          </p:spPr>
          <p:txBody>
            <a:bodyPr anchor="t" rtlCol="false" tIns="0" lIns="0" bIns="0" rIns="0">
              <a:spAutoFit/>
            </a:bodyPr>
            <a:lstStyle/>
            <a:p>
              <a:pPr algn="ctr" marL="0" indent="0" lvl="0">
                <a:lnSpc>
                  <a:spcPts val="4156"/>
                </a:lnSpc>
              </a:pPr>
              <a:r>
                <a:rPr lang="en-US" sz="4241" spc="-271">
                  <a:solidFill>
                    <a:srgbClr val="FFFFFF"/>
                  </a:solidFill>
                  <a:latin typeface="Bricolage Grotesque"/>
                  <a:ea typeface="Bricolage Grotesque"/>
                  <a:cs typeface="Bricolage Grotesque"/>
                  <a:sym typeface="Bricolage Grotesque"/>
                </a:rPr>
                <a:t>02</a:t>
              </a:r>
            </a:p>
          </p:txBody>
        </p:sp>
      </p:grpSp>
      <p:grpSp>
        <p:nvGrpSpPr>
          <p:cNvPr name="Group 19" id="19"/>
          <p:cNvGrpSpPr/>
          <p:nvPr/>
        </p:nvGrpSpPr>
        <p:grpSpPr>
          <a:xfrm rot="0">
            <a:off x="8875845" y="9608"/>
            <a:ext cx="1197405" cy="1196165"/>
            <a:chOff x="0" y="0"/>
            <a:chExt cx="1596540" cy="1594886"/>
          </a:xfrm>
        </p:grpSpPr>
        <p:grpSp>
          <p:nvGrpSpPr>
            <p:cNvPr name="Group 20" id="20"/>
            <p:cNvGrpSpPr/>
            <p:nvPr/>
          </p:nvGrpSpPr>
          <p:grpSpPr>
            <a:xfrm rot="0">
              <a:off x="0" y="0"/>
              <a:ext cx="1596540" cy="1594886"/>
              <a:chOff x="0" y="0"/>
              <a:chExt cx="787566" cy="786750"/>
            </a:xfrm>
          </p:grpSpPr>
          <p:sp>
            <p:nvSpPr>
              <p:cNvPr name="Freeform 21" id="21"/>
              <p:cNvSpPr/>
              <p:nvPr/>
            </p:nvSpPr>
            <p:spPr>
              <a:xfrm flipH="false" flipV="false" rot="0">
                <a:off x="0" y="0"/>
                <a:ext cx="787566" cy="786750"/>
              </a:xfrm>
              <a:custGeom>
                <a:avLst/>
                <a:gdLst/>
                <a:ahLst/>
                <a:cxnLst/>
                <a:rect r="r" b="b" t="t" l="l"/>
                <a:pathLst>
                  <a:path h="786750" w="787566">
                    <a:moveTo>
                      <a:pt x="0" y="0"/>
                    </a:moveTo>
                    <a:lnTo>
                      <a:pt x="787566" y="0"/>
                    </a:lnTo>
                    <a:lnTo>
                      <a:pt x="787566" y="786750"/>
                    </a:lnTo>
                    <a:lnTo>
                      <a:pt x="0" y="786750"/>
                    </a:ln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p:spPr>
          </p:sp>
          <p:sp>
            <p:nvSpPr>
              <p:cNvPr name="TextBox 22" id="22"/>
              <p:cNvSpPr txBox="true"/>
              <p:nvPr/>
            </p:nvSpPr>
            <p:spPr>
              <a:xfrm>
                <a:off x="0" y="-38100"/>
                <a:ext cx="787566" cy="82485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23" id="23"/>
            <p:cNvSpPr txBox="true"/>
            <p:nvPr/>
          </p:nvSpPr>
          <p:spPr>
            <a:xfrm rot="0">
              <a:off x="206583" y="454809"/>
              <a:ext cx="1183375" cy="770992"/>
            </a:xfrm>
            <a:prstGeom prst="rect">
              <a:avLst/>
            </a:prstGeom>
          </p:spPr>
          <p:txBody>
            <a:bodyPr anchor="t" rtlCol="false" tIns="0" lIns="0" bIns="0" rIns="0">
              <a:spAutoFit/>
            </a:bodyPr>
            <a:lstStyle/>
            <a:p>
              <a:pPr algn="ctr" marL="0" indent="0" lvl="0">
                <a:lnSpc>
                  <a:spcPts val="4156"/>
                </a:lnSpc>
              </a:pPr>
              <a:r>
                <a:rPr lang="en-US" sz="4241" spc="-271">
                  <a:solidFill>
                    <a:srgbClr val="FFFFFF"/>
                  </a:solidFill>
                  <a:latin typeface="Bricolage Grotesque"/>
                  <a:ea typeface="Bricolage Grotesque"/>
                  <a:cs typeface="Bricolage Grotesque"/>
                  <a:sym typeface="Bricolage Grotesque"/>
                </a:rPr>
                <a:t>03</a:t>
              </a:r>
            </a:p>
          </p:txBody>
        </p:sp>
      </p:grpSp>
      <p:grpSp>
        <p:nvGrpSpPr>
          <p:cNvPr name="Group 24" id="24"/>
          <p:cNvGrpSpPr/>
          <p:nvPr/>
        </p:nvGrpSpPr>
        <p:grpSpPr>
          <a:xfrm rot="0">
            <a:off x="13309005" y="9608"/>
            <a:ext cx="1197405" cy="1196165"/>
            <a:chOff x="0" y="0"/>
            <a:chExt cx="1596540" cy="1594886"/>
          </a:xfrm>
        </p:grpSpPr>
        <p:grpSp>
          <p:nvGrpSpPr>
            <p:cNvPr name="Group 25" id="25"/>
            <p:cNvGrpSpPr/>
            <p:nvPr/>
          </p:nvGrpSpPr>
          <p:grpSpPr>
            <a:xfrm rot="0">
              <a:off x="0" y="0"/>
              <a:ext cx="1596540" cy="1594886"/>
              <a:chOff x="0" y="0"/>
              <a:chExt cx="787566" cy="786750"/>
            </a:xfrm>
          </p:grpSpPr>
          <p:sp>
            <p:nvSpPr>
              <p:cNvPr name="Freeform 26" id="26"/>
              <p:cNvSpPr/>
              <p:nvPr/>
            </p:nvSpPr>
            <p:spPr>
              <a:xfrm flipH="false" flipV="false" rot="0">
                <a:off x="0" y="0"/>
                <a:ext cx="787566" cy="786750"/>
              </a:xfrm>
              <a:custGeom>
                <a:avLst/>
                <a:gdLst/>
                <a:ahLst/>
                <a:cxnLst/>
                <a:rect r="r" b="b" t="t" l="l"/>
                <a:pathLst>
                  <a:path h="786750" w="787566">
                    <a:moveTo>
                      <a:pt x="0" y="0"/>
                    </a:moveTo>
                    <a:lnTo>
                      <a:pt x="787566" y="0"/>
                    </a:lnTo>
                    <a:lnTo>
                      <a:pt x="787566" y="786750"/>
                    </a:lnTo>
                    <a:lnTo>
                      <a:pt x="0" y="786750"/>
                    </a:ln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p:spPr>
          </p:sp>
          <p:sp>
            <p:nvSpPr>
              <p:cNvPr name="TextBox 27" id="27"/>
              <p:cNvSpPr txBox="true"/>
              <p:nvPr/>
            </p:nvSpPr>
            <p:spPr>
              <a:xfrm>
                <a:off x="0" y="-38100"/>
                <a:ext cx="787566" cy="82485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28" id="28"/>
            <p:cNvSpPr txBox="true"/>
            <p:nvPr/>
          </p:nvSpPr>
          <p:spPr>
            <a:xfrm rot="0">
              <a:off x="206583" y="454809"/>
              <a:ext cx="1183375" cy="770992"/>
            </a:xfrm>
            <a:prstGeom prst="rect">
              <a:avLst/>
            </a:prstGeom>
          </p:spPr>
          <p:txBody>
            <a:bodyPr anchor="t" rtlCol="false" tIns="0" lIns="0" bIns="0" rIns="0">
              <a:spAutoFit/>
            </a:bodyPr>
            <a:lstStyle/>
            <a:p>
              <a:pPr algn="ctr" marL="0" indent="0" lvl="0">
                <a:lnSpc>
                  <a:spcPts val="4156"/>
                </a:lnSpc>
              </a:pPr>
              <a:r>
                <a:rPr lang="en-US" sz="4241" spc="-271">
                  <a:solidFill>
                    <a:srgbClr val="FFFFFF"/>
                  </a:solidFill>
                  <a:latin typeface="Bricolage Grotesque"/>
                  <a:ea typeface="Bricolage Grotesque"/>
                  <a:cs typeface="Bricolage Grotesque"/>
                  <a:sym typeface="Bricolage Grotesque"/>
                </a:rPr>
                <a:t>04</a:t>
              </a:r>
            </a:p>
          </p:txBody>
        </p:sp>
      </p:grpSp>
      <p:sp>
        <p:nvSpPr>
          <p:cNvPr name="Freeform 29" id="29"/>
          <p:cNvSpPr/>
          <p:nvPr/>
        </p:nvSpPr>
        <p:spPr>
          <a:xfrm flipH="false" flipV="false" rot="0">
            <a:off x="10611949" y="1829393"/>
            <a:ext cx="907632" cy="831624"/>
          </a:xfrm>
          <a:custGeom>
            <a:avLst/>
            <a:gdLst/>
            <a:ahLst/>
            <a:cxnLst/>
            <a:rect r="r" b="b" t="t" l="l"/>
            <a:pathLst>
              <a:path h="831624" w="907632">
                <a:moveTo>
                  <a:pt x="0" y="0"/>
                </a:moveTo>
                <a:lnTo>
                  <a:pt x="907632" y="0"/>
                </a:lnTo>
                <a:lnTo>
                  <a:pt x="907632" y="831624"/>
                </a:lnTo>
                <a:lnTo>
                  <a:pt x="0" y="831624"/>
                </a:lnTo>
                <a:lnTo>
                  <a:pt x="0" y="0"/>
                </a:lnTo>
                <a:close/>
              </a:path>
            </a:pathLst>
          </a:custGeom>
          <a:blipFill>
            <a:blip r:embed="rId2"/>
            <a:stretch>
              <a:fillRect l="0" t="0" r="0" b="0"/>
            </a:stretch>
          </a:blipFill>
        </p:spPr>
      </p:sp>
      <p:sp>
        <p:nvSpPr>
          <p:cNvPr name="Freeform 30" id="30"/>
          <p:cNvSpPr/>
          <p:nvPr/>
        </p:nvSpPr>
        <p:spPr>
          <a:xfrm flipH="false" flipV="false" rot="-5400000">
            <a:off x="15131134" y="1900596"/>
            <a:ext cx="826206" cy="796883"/>
          </a:xfrm>
          <a:custGeom>
            <a:avLst/>
            <a:gdLst/>
            <a:ahLst/>
            <a:cxnLst/>
            <a:rect r="r" b="b" t="t" l="l"/>
            <a:pathLst>
              <a:path h="796883" w="826206">
                <a:moveTo>
                  <a:pt x="0" y="0"/>
                </a:moveTo>
                <a:lnTo>
                  <a:pt x="826206" y="0"/>
                </a:lnTo>
                <a:lnTo>
                  <a:pt x="826206" y="796883"/>
                </a:lnTo>
                <a:lnTo>
                  <a:pt x="0" y="796883"/>
                </a:lnTo>
                <a:lnTo>
                  <a:pt x="0" y="0"/>
                </a:lnTo>
                <a:close/>
              </a:path>
            </a:pathLst>
          </a:custGeom>
          <a:blipFill>
            <a:blip r:embed="rId3"/>
            <a:stretch>
              <a:fillRect l="0" t="0" r="0" b="0"/>
            </a:stretch>
          </a:blipFill>
        </p:spPr>
      </p:sp>
      <p:sp>
        <p:nvSpPr>
          <p:cNvPr name="Freeform 31" id="31"/>
          <p:cNvSpPr/>
          <p:nvPr/>
        </p:nvSpPr>
        <p:spPr>
          <a:xfrm flipH="false" flipV="false" rot="0">
            <a:off x="1692703" y="1856697"/>
            <a:ext cx="1106359" cy="866648"/>
          </a:xfrm>
          <a:custGeom>
            <a:avLst/>
            <a:gdLst/>
            <a:ahLst/>
            <a:cxnLst/>
            <a:rect r="r" b="b" t="t" l="l"/>
            <a:pathLst>
              <a:path h="866648" w="1106359">
                <a:moveTo>
                  <a:pt x="0" y="0"/>
                </a:moveTo>
                <a:lnTo>
                  <a:pt x="1106359" y="0"/>
                </a:lnTo>
                <a:lnTo>
                  <a:pt x="1106359" y="866648"/>
                </a:lnTo>
                <a:lnTo>
                  <a:pt x="0" y="866648"/>
                </a:lnTo>
                <a:lnTo>
                  <a:pt x="0" y="0"/>
                </a:lnTo>
                <a:close/>
              </a:path>
            </a:pathLst>
          </a:custGeom>
          <a:blipFill>
            <a:blip r:embed="rId4"/>
            <a:stretch>
              <a:fillRect l="0" t="0" r="0" b="0"/>
            </a:stretch>
          </a:blipFill>
        </p:spPr>
      </p:sp>
      <p:grpSp>
        <p:nvGrpSpPr>
          <p:cNvPr name="Group 32" id="32"/>
          <p:cNvGrpSpPr/>
          <p:nvPr/>
        </p:nvGrpSpPr>
        <p:grpSpPr>
          <a:xfrm rot="0">
            <a:off x="1028700" y="8125800"/>
            <a:ext cx="22757" cy="975106"/>
            <a:chOff x="0" y="0"/>
            <a:chExt cx="12543" cy="537460"/>
          </a:xfrm>
        </p:grpSpPr>
        <p:sp>
          <p:nvSpPr>
            <p:cNvPr name="Freeform 33" id="33"/>
            <p:cNvSpPr/>
            <p:nvPr/>
          </p:nvSpPr>
          <p:spPr>
            <a:xfrm flipH="false" flipV="false" rot="0">
              <a:off x="0" y="0"/>
              <a:ext cx="12543" cy="537460"/>
            </a:xfrm>
            <a:custGeom>
              <a:avLst/>
              <a:gdLst/>
              <a:ahLst/>
              <a:cxnLst/>
              <a:rect r="r" b="b" t="t" l="l"/>
              <a:pathLst>
                <a:path h="537460" w="12543">
                  <a:moveTo>
                    <a:pt x="0" y="0"/>
                  </a:moveTo>
                  <a:lnTo>
                    <a:pt x="12543" y="0"/>
                  </a:lnTo>
                  <a:lnTo>
                    <a:pt x="12543" y="537460"/>
                  </a:lnTo>
                  <a:lnTo>
                    <a:pt x="0" y="537460"/>
                  </a:lnTo>
                  <a:close/>
                </a:path>
              </a:pathLst>
            </a:custGeom>
            <a:solidFill>
              <a:srgbClr val="3A58E4"/>
            </a:solidFill>
          </p:spPr>
        </p:sp>
        <p:sp>
          <p:nvSpPr>
            <p:cNvPr name="TextBox 34" id="34"/>
            <p:cNvSpPr txBox="true"/>
            <p:nvPr/>
          </p:nvSpPr>
          <p:spPr>
            <a:xfrm>
              <a:off x="0" y="-38100"/>
              <a:ext cx="12543" cy="57556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35" id="35"/>
          <p:cNvGrpSpPr/>
          <p:nvPr/>
        </p:nvGrpSpPr>
        <p:grpSpPr>
          <a:xfrm rot="0">
            <a:off x="-9525" y="7173190"/>
            <a:ext cx="546689" cy="3113810"/>
            <a:chOff x="0" y="0"/>
            <a:chExt cx="143984" cy="820098"/>
          </a:xfrm>
        </p:grpSpPr>
        <p:sp>
          <p:nvSpPr>
            <p:cNvPr name="Freeform 36" id="36"/>
            <p:cNvSpPr/>
            <p:nvPr/>
          </p:nvSpPr>
          <p:spPr>
            <a:xfrm flipH="false" flipV="false" rot="0">
              <a:off x="0" y="0"/>
              <a:ext cx="143984" cy="820098"/>
            </a:xfrm>
            <a:custGeom>
              <a:avLst/>
              <a:gdLst/>
              <a:ahLst/>
              <a:cxnLst/>
              <a:rect r="r" b="b" t="t" l="l"/>
              <a:pathLst>
                <a:path h="820098" w="143984">
                  <a:moveTo>
                    <a:pt x="0" y="0"/>
                  </a:moveTo>
                  <a:lnTo>
                    <a:pt x="143984" y="0"/>
                  </a:lnTo>
                  <a:lnTo>
                    <a:pt x="143984" y="820098"/>
                  </a:lnTo>
                  <a:lnTo>
                    <a:pt x="0" y="820098"/>
                  </a:ln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p:spPr>
        </p:sp>
        <p:sp>
          <p:nvSpPr>
            <p:cNvPr name="TextBox 37" id="37"/>
            <p:cNvSpPr txBox="true"/>
            <p:nvPr/>
          </p:nvSpPr>
          <p:spPr>
            <a:xfrm>
              <a:off x="0" y="-38100"/>
              <a:ext cx="143984" cy="858198"/>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38" id="38"/>
          <p:cNvSpPr/>
          <p:nvPr/>
        </p:nvSpPr>
        <p:spPr>
          <a:xfrm flipH="false" flipV="false" rot="0">
            <a:off x="6113517" y="1711368"/>
            <a:ext cx="1159493" cy="1159493"/>
          </a:xfrm>
          <a:custGeom>
            <a:avLst/>
            <a:gdLst/>
            <a:ahLst/>
            <a:cxnLst/>
            <a:rect r="r" b="b" t="t" l="l"/>
            <a:pathLst>
              <a:path h="1159493" w="1159493">
                <a:moveTo>
                  <a:pt x="0" y="0"/>
                </a:moveTo>
                <a:lnTo>
                  <a:pt x="1159493" y="0"/>
                </a:lnTo>
                <a:lnTo>
                  <a:pt x="1159493" y="1159493"/>
                </a:lnTo>
                <a:lnTo>
                  <a:pt x="0" y="1159493"/>
                </a:lnTo>
                <a:lnTo>
                  <a:pt x="0" y="0"/>
                </a:lnTo>
                <a:close/>
              </a:path>
            </a:pathLst>
          </a:custGeom>
          <a:blipFill>
            <a:blip r:embed="rId5"/>
            <a:stretch>
              <a:fillRect l="0" t="0" r="0" b="0"/>
            </a:stretch>
          </a:blipFill>
        </p:spPr>
      </p:sp>
      <p:sp>
        <p:nvSpPr>
          <p:cNvPr name="Freeform 39" id="39"/>
          <p:cNvSpPr/>
          <p:nvPr/>
        </p:nvSpPr>
        <p:spPr>
          <a:xfrm flipH="false" flipV="false" rot="0">
            <a:off x="14506410" y="7393612"/>
            <a:ext cx="2975975" cy="2672966"/>
          </a:xfrm>
          <a:custGeom>
            <a:avLst/>
            <a:gdLst/>
            <a:ahLst/>
            <a:cxnLst/>
            <a:rect r="r" b="b" t="t" l="l"/>
            <a:pathLst>
              <a:path h="2672966" w="2975975">
                <a:moveTo>
                  <a:pt x="0" y="0"/>
                </a:moveTo>
                <a:lnTo>
                  <a:pt x="2975974" y="0"/>
                </a:lnTo>
                <a:lnTo>
                  <a:pt x="2975974" y="2672966"/>
                </a:lnTo>
                <a:lnTo>
                  <a:pt x="0" y="2672966"/>
                </a:lnTo>
                <a:lnTo>
                  <a:pt x="0" y="0"/>
                </a:lnTo>
                <a:close/>
              </a:path>
            </a:pathLst>
          </a:custGeom>
          <a:blipFill>
            <a:blip r:embed="rId6"/>
            <a:stretch>
              <a:fillRect l="0" t="0" r="0" b="0"/>
            </a:stretch>
          </a:blipFill>
        </p:spPr>
      </p:sp>
      <p:sp>
        <p:nvSpPr>
          <p:cNvPr name="TextBox 40" id="40"/>
          <p:cNvSpPr txBox="true"/>
          <p:nvPr/>
        </p:nvSpPr>
        <p:spPr>
          <a:xfrm rot="0">
            <a:off x="562973" y="4170724"/>
            <a:ext cx="3336787" cy="2147910"/>
          </a:xfrm>
          <a:prstGeom prst="rect">
            <a:avLst/>
          </a:prstGeom>
        </p:spPr>
        <p:txBody>
          <a:bodyPr anchor="t" rtlCol="false" tIns="0" lIns="0" bIns="0" rIns="0">
            <a:spAutoFit/>
          </a:bodyPr>
          <a:lstStyle/>
          <a:p>
            <a:pPr algn="just" marL="0" indent="0" lvl="0">
              <a:lnSpc>
                <a:spcPts val="2435"/>
              </a:lnSpc>
            </a:pPr>
            <a:r>
              <a:rPr lang="en-US" sz="1873" spc="-5">
                <a:solidFill>
                  <a:srgbClr val="3A58E4"/>
                </a:solidFill>
                <a:latin typeface="Poppins"/>
                <a:ea typeface="Poppins"/>
                <a:cs typeface="Poppins"/>
                <a:sym typeface="Poppins"/>
              </a:rPr>
              <a:t>Verified data integrity across 3,900 rows and 18 columns. Checked for duplicates, inconsistent formats, and outliers in purchase amounts and ratings.</a:t>
            </a:r>
          </a:p>
        </p:txBody>
      </p:sp>
      <p:sp>
        <p:nvSpPr>
          <p:cNvPr name="TextBox 41" id="41"/>
          <p:cNvSpPr txBox="true"/>
          <p:nvPr/>
        </p:nvSpPr>
        <p:spPr>
          <a:xfrm rot="0">
            <a:off x="4989081" y="4475524"/>
            <a:ext cx="3336787" cy="1843110"/>
          </a:xfrm>
          <a:prstGeom prst="rect">
            <a:avLst/>
          </a:prstGeom>
        </p:spPr>
        <p:txBody>
          <a:bodyPr anchor="t" rtlCol="false" tIns="0" lIns="0" bIns="0" rIns="0">
            <a:spAutoFit/>
          </a:bodyPr>
          <a:lstStyle/>
          <a:p>
            <a:pPr algn="just" marL="0" indent="0" lvl="0">
              <a:lnSpc>
                <a:spcPts val="2435"/>
              </a:lnSpc>
            </a:pPr>
            <a:r>
              <a:rPr lang="en-US" sz="1873" spc="-5">
                <a:solidFill>
                  <a:srgbClr val="3A58E4"/>
                </a:solidFill>
                <a:latin typeface="Poppins"/>
                <a:ea typeface="Poppins"/>
                <a:cs typeface="Poppins"/>
                <a:sym typeface="Poppins"/>
              </a:rPr>
              <a:t>Identified 37 missing Review Rating values. Imputed using median strategy to maintain data distribution integrity without skewing analysis results.</a:t>
            </a:r>
          </a:p>
        </p:txBody>
      </p:sp>
      <p:sp>
        <p:nvSpPr>
          <p:cNvPr name="TextBox 42" id="42"/>
          <p:cNvSpPr txBox="true"/>
          <p:nvPr/>
        </p:nvSpPr>
        <p:spPr>
          <a:xfrm rot="0">
            <a:off x="9415189" y="4475524"/>
            <a:ext cx="3336787" cy="1843110"/>
          </a:xfrm>
          <a:prstGeom prst="rect">
            <a:avLst/>
          </a:prstGeom>
        </p:spPr>
        <p:txBody>
          <a:bodyPr anchor="t" rtlCol="false" tIns="0" lIns="0" bIns="0" rIns="0">
            <a:spAutoFit/>
          </a:bodyPr>
          <a:lstStyle/>
          <a:p>
            <a:pPr algn="just" marL="0" indent="0" lvl="0">
              <a:lnSpc>
                <a:spcPts val="2435"/>
              </a:lnSpc>
            </a:pPr>
            <a:r>
              <a:rPr lang="en-US" sz="1873" spc="-5">
                <a:solidFill>
                  <a:srgbClr val="3A58E4"/>
                </a:solidFill>
                <a:latin typeface="Poppins"/>
                <a:ea typeface="Poppins"/>
                <a:cs typeface="Poppins"/>
                <a:sym typeface="Poppins"/>
              </a:rPr>
              <a:t>Standardized categorical variables, normalized purchase amounts, and created derived features for age groups and purchase frequency analysis.</a:t>
            </a:r>
          </a:p>
        </p:txBody>
      </p:sp>
      <p:sp>
        <p:nvSpPr>
          <p:cNvPr name="TextBox 43" id="43"/>
          <p:cNvSpPr txBox="true"/>
          <p:nvPr/>
        </p:nvSpPr>
        <p:spPr>
          <a:xfrm rot="0">
            <a:off x="13844769" y="4475524"/>
            <a:ext cx="3336787" cy="1843110"/>
          </a:xfrm>
          <a:prstGeom prst="rect">
            <a:avLst/>
          </a:prstGeom>
        </p:spPr>
        <p:txBody>
          <a:bodyPr anchor="t" rtlCol="false" tIns="0" lIns="0" bIns="0" rIns="0">
            <a:spAutoFit/>
          </a:bodyPr>
          <a:lstStyle/>
          <a:p>
            <a:pPr algn="just" marL="0" indent="0" lvl="0">
              <a:lnSpc>
                <a:spcPts val="2435"/>
              </a:lnSpc>
            </a:pPr>
            <a:r>
              <a:rPr lang="en-US" sz="1873" spc="-5">
                <a:solidFill>
                  <a:srgbClr val="3A58E4"/>
                </a:solidFill>
                <a:latin typeface="Poppins"/>
                <a:ea typeface="Poppins"/>
                <a:cs typeface="Poppins"/>
                <a:sym typeface="Poppins"/>
              </a:rPr>
              <a:t>Classified customers into Loyal, Returning, and New segments based on purchase history and subscription status for targeted analysis.</a:t>
            </a:r>
          </a:p>
        </p:txBody>
      </p:sp>
      <p:sp>
        <p:nvSpPr>
          <p:cNvPr name="TextBox 44" id="44"/>
          <p:cNvSpPr txBox="true"/>
          <p:nvPr/>
        </p:nvSpPr>
        <p:spPr>
          <a:xfrm rot="0">
            <a:off x="1137678" y="7779280"/>
            <a:ext cx="2762082" cy="1479020"/>
          </a:xfrm>
          <a:prstGeom prst="rect">
            <a:avLst/>
          </a:prstGeom>
        </p:spPr>
        <p:txBody>
          <a:bodyPr anchor="t" rtlCol="false" tIns="0" lIns="0" bIns="0" rIns="0">
            <a:spAutoFit/>
          </a:bodyPr>
          <a:lstStyle/>
          <a:p>
            <a:pPr algn="l" marL="0" indent="0" lvl="0">
              <a:lnSpc>
                <a:spcPts val="3816"/>
              </a:lnSpc>
            </a:pPr>
            <a:r>
              <a:rPr lang="en-US" sz="3894" spc="-249">
                <a:gradFill>
                  <a:gsLst>
                    <a:gs pos="0">
                      <a:srgbClr val="3A58E4">
                        <a:alpha val="100000"/>
                      </a:srgbClr>
                    </a:gs>
                    <a:gs pos="100000">
                      <a:srgbClr val="293E9C">
                        <a:alpha val="100000"/>
                      </a:srgbClr>
                    </a:gs>
                  </a:gsLst>
                  <a:path path="circle">
                    <a:fillToRect l="0" r="100000" t="0" b="100000"/>
                  </a:path>
                  <a:tileRect r="0" l="-100000" b="0" t="-100000"/>
                </a:gradFill>
                <a:latin typeface="Bricolage Grotesque"/>
                <a:ea typeface="Bricolage Grotesque"/>
                <a:cs typeface="Bricolage Grotesque"/>
                <a:sym typeface="Bricolage Grotesque"/>
              </a:rPr>
              <a:t>Data Cleaning &amp; Preparation</a:t>
            </a:r>
          </a:p>
        </p:txBody>
      </p:sp>
      <p:sp>
        <p:nvSpPr>
          <p:cNvPr name="TextBox 45" id="45"/>
          <p:cNvSpPr txBox="true"/>
          <p:nvPr/>
        </p:nvSpPr>
        <p:spPr>
          <a:xfrm rot="0">
            <a:off x="4989081" y="7753829"/>
            <a:ext cx="7762895" cy="1347078"/>
          </a:xfrm>
          <a:prstGeom prst="rect">
            <a:avLst/>
          </a:prstGeom>
        </p:spPr>
        <p:txBody>
          <a:bodyPr anchor="t" rtlCol="false" tIns="0" lIns="0" bIns="0" rIns="0">
            <a:spAutoFit/>
          </a:bodyPr>
          <a:lstStyle/>
          <a:p>
            <a:pPr algn="just" marL="0" indent="0" lvl="0">
              <a:lnSpc>
                <a:spcPts val="2660"/>
              </a:lnSpc>
            </a:pPr>
            <a:r>
              <a:rPr lang="en-US" sz="1900" spc="-5">
                <a:solidFill>
                  <a:srgbClr val="3A58E4"/>
                </a:solidFill>
                <a:latin typeface="Poppins"/>
                <a:ea typeface="Poppins"/>
                <a:cs typeface="Poppins"/>
                <a:sym typeface="Poppins"/>
              </a:rPr>
              <a:t>Clean, validated data forms the foundation for accurate analysis. Proper preprocessing ensures reliable insights and prevents misleading conclusions that could impact business decisions.</a:t>
            </a:r>
          </a:p>
        </p:txBody>
      </p:sp>
      <p:sp>
        <p:nvSpPr>
          <p:cNvPr name="TextBox 46" id="46"/>
          <p:cNvSpPr txBox="true"/>
          <p:nvPr/>
        </p:nvSpPr>
        <p:spPr>
          <a:xfrm rot="0">
            <a:off x="512270" y="3090400"/>
            <a:ext cx="3438193" cy="406062"/>
          </a:xfrm>
          <a:prstGeom prst="rect">
            <a:avLst/>
          </a:prstGeom>
        </p:spPr>
        <p:txBody>
          <a:bodyPr anchor="t" rtlCol="false" tIns="0" lIns="0" bIns="0" rIns="0">
            <a:spAutoFit/>
          </a:bodyPr>
          <a:lstStyle/>
          <a:p>
            <a:pPr algn="ctr" marL="0" indent="0" lvl="0">
              <a:lnSpc>
                <a:spcPts val="3343"/>
              </a:lnSpc>
              <a:spcBef>
                <a:spcPct val="0"/>
              </a:spcBef>
            </a:pPr>
            <a:r>
              <a:rPr lang="en-US" b="true" sz="2388" spc="-152">
                <a:gradFill>
                  <a:gsLst>
                    <a:gs pos="0">
                      <a:srgbClr val="FF5757">
                        <a:alpha val="100000"/>
                      </a:srgbClr>
                    </a:gs>
                    <a:gs pos="100000">
                      <a:srgbClr val="8C52FF">
                        <a:alpha val="100000"/>
                      </a:srgbClr>
                    </a:gs>
                  </a:gsLst>
                  <a:lin ang="0"/>
                </a:gradFill>
                <a:latin typeface="Bricolage Grotesque Bold"/>
                <a:ea typeface="Bricolage Grotesque Bold"/>
                <a:cs typeface="Bricolage Grotesque Bold"/>
                <a:sym typeface="Bricolage Grotesque Bold"/>
              </a:rPr>
              <a:t>DATA VALIDATION</a:t>
            </a:r>
          </a:p>
        </p:txBody>
      </p:sp>
      <p:sp>
        <p:nvSpPr>
          <p:cNvPr name="TextBox 47" id="47"/>
          <p:cNvSpPr txBox="true"/>
          <p:nvPr/>
        </p:nvSpPr>
        <p:spPr>
          <a:xfrm rot="0">
            <a:off x="4938378" y="3090400"/>
            <a:ext cx="3438193" cy="825162"/>
          </a:xfrm>
          <a:prstGeom prst="rect">
            <a:avLst/>
          </a:prstGeom>
        </p:spPr>
        <p:txBody>
          <a:bodyPr anchor="t" rtlCol="false" tIns="0" lIns="0" bIns="0" rIns="0">
            <a:spAutoFit/>
          </a:bodyPr>
          <a:lstStyle/>
          <a:p>
            <a:pPr algn="ctr" marL="0" indent="0" lvl="0">
              <a:lnSpc>
                <a:spcPts val="3343"/>
              </a:lnSpc>
              <a:spcBef>
                <a:spcPct val="0"/>
              </a:spcBef>
            </a:pPr>
            <a:r>
              <a:rPr lang="en-US" b="true" sz="2388" spc="-152">
                <a:gradFill>
                  <a:gsLst>
                    <a:gs pos="0">
                      <a:srgbClr val="FF5757">
                        <a:alpha val="100000"/>
                      </a:srgbClr>
                    </a:gs>
                    <a:gs pos="100000">
                      <a:srgbClr val="8C52FF">
                        <a:alpha val="100000"/>
                      </a:srgbClr>
                    </a:gs>
                  </a:gsLst>
                  <a:lin ang="0"/>
                </a:gradFill>
                <a:latin typeface="Bricolage Grotesque Bold"/>
                <a:ea typeface="Bricolage Grotesque Bold"/>
                <a:cs typeface="Bricolage Grotesque Bold"/>
                <a:sym typeface="Bricolage Grotesque Bold"/>
              </a:rPr>
              <a:t>MISSING VALUE IMPUTATION</a:t>
            </a:r>
          </a:p>
        </p:txBody>
      </p:sp>
      <p:sp>
        <p:nvSpPr>
          <p:cNvPr name="TextBox 48" id="48"/>
          <p:cNvSpPr txBox="true"/>
          <p:nvPr/>
        </p:nvSpPr>
        <p:spPr>
          <a:xfrm rot="0">
            <a:off x="9364486" y="3090400"/>
            <a:ext cx="3438193" cy="406062"/>
          </a:xfrm>
          <a:prstGeom prst="rect">
            <a:avLst/>
          </a:prstGeom>
        </p:spPr>
        <p:txBody>
          <a:bodyPr anchor="t" rtlCol="false" tIns="0" lIns="0" bIns="0" rIns="0">
            <a:spAutoFit/>
          </a:bodyPr>
          <a:lstStyle/>
          <a:p>
            <a:pPr algn="ctr" marL="0" indent="0" lvl="0">
              <a:lnSpc>
                <a:spcPts val="3343"/>
              </a:lnSpc>
            </a:pPr>
            <a:r>
              <a:rPr lang="en-US" b="true" sz="2388" spc="-152">
                <a:gradFill>
                  <a:gsLst>
                    <a:gs pos="0">
                      <a:srgbClr val="FF5757">
                        <a:alpha val="100000"/>
                      </a:srgbClr>
                    </a:gs>
                    <a:gs pos="100000">
                      <a:srgbClr val="8C52FF">
                        <a:alpha val="100000"/>
                      </a:srgbClr>
                    </a:gs>
                  </a:gsLst>
                  <a:lin ang="0"/>
                </a:gradFill>
                <a:latin typeface="Bricolage Grotesque Bold"/>
                <a:ea typeface="Bricolage Grotesque Bold"/>
                <a:cs typeface="Bricolage Grotesque Bold"/>
                <a:sym typeface="Bricolage Grotesque Bold"/>
              </a:rPr>
              <a:t>DATA TRANSFORMATION</a:t>
            </a:r>
          </a:p>
        </p:txBody>
      </p:sp>
      <p:sp>
        <p:nvSpPr>
          <p:cNvPr name="TextBox 49" id="49"/>
          <p:cNvSpPr txBox="true"/>
          <p:nvPr/>
        </p:nvSpPr>
        <p:spPr>
          <a:xfrm rot="0">
            <a:off x="13794066" y="3090400"/>
            <a:ext cx="3438193" cy="825162"/>
          </a:xfrm>
          <a:prstGeom prst="rect">
            <a:avLst/>
          </a:prstGeom>
        </p:spPr>
        <p:txBody>
          <a:bodyPr anchor="t" rtlCol="false" tIns="0" lIns="0" bIns="0" rIns="0">
            <a:spAutoFit/>
          </a:bodyPr>
          <a:lstStyle/>
          <a:p>
            <a:pPr algn="ctr" marL="0" indent="0" lvl="0">
              <a:lnSpc>
                <a:spcPts val="3343"/>
              </a:lnSpc>
            </a:pPr>
            <a:r>
              <a:rPr lang="en-US" b="true" sz="2388" spc="-152">
                <a:gradFill>
                  <a:gsLst>
                    <a:gs pos="0">
                      <a:srgbClr val="FF5757">
                        <a:alpha val="100000"/>
                      </a:srgbClr>
                    </a:gs>
                    <a:gs pos="100000">
                      <a:srgbClr val="8C52FF">
                        <a:alpha val="100000"/>
                      </a:srgbClr>
                    </a:gs>
                  </a:gsLst>
                  <a:lin ang="0"/>
                </a:gradFill>
                <a:latin typeface="Bricolage Grotesque Bold"/>
                <a:ea typeface="Bricolage Grotesque Bold"/>
                <a:cs typeface="Bricolage Grotesque Bold"/>
                <a:sym typeface="Bricolage Grotesque Bold"/>
              </a:rPr>
              <a:t>CUSTOMER SEGMENTATION</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492056" y="1855251"/>
            <a:ext cx="47625" cy="2040668"/>
            <a:chOff x="0" y="0"/>
            <a:chExt cx="12543" cy="537460"/>
          </a:xfrm>
        </p:grpSpPr>
        <p:sp>
          <p:nvSpPr>
            <p:cNvPr name="Freeform 3" id="3"/>
            <p:cNvSpPr/>
            <p:nvPr/>
          </p:nvSpPr>
          <p:spPr>
            <a:xfrm flipH="false" flipV="false" rot="0">
              <a:off x="0" y="0"/>
              <a:ext cx="12543" cy="537460"/>
            </a:xfrm>
            <a:custGeom>
              <a:avLst/>
              <a:gdLst/>
              <a:ahLst/>
              <a:cxnLst/>
              <a:rect r="r" b="b" t="t" l="l"/>
              <a:pathLst>
                <a:path h="537460" w="12543">
                  <a:moveTo>
                    <a:pt x="0" y="0"/>
                  </a:moveTo>
                  <a:lnTo>
                    <a:pt x="12543" y="0"/>
                  </a:lnTo>
                  <a:lnTo>
                    <a:pt x="12543" y="537460"/>
                  </a:lnTo>
                  <a:lnTo>
                    <a:pt x="0" y="537460"/>
                  </a:lnTo>
                  <a:close/>
                </a:path>
              </a:pathLst>
            </a:custGeom>
            <a:solidFill>
              <a:srgbClr val="3A58E4"/>
            </a:solidFill>
          </p:spPr>
        </p:sp>
        <p:sp>
          <p:nvSpPr>
            <p:cNvPr name="TextBox 4" id="4"/>
            <p:cNvSpPr txBox="true"/>
            <p:nvPr/>
          </p:nvSpPr>
          <p:spPr>
            <a:xfrm>
              <a:off x="0" y="-38100"/>
              <a:ext cx="12543" cy="57556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5" id="5"/>
          <p:cNvSpPr txBox="true"/>
          <p:nvPr/>
        </p:nvSpPr>
        <p:spPr>
          <a:xfrm rot="0">
            <a:off x="8492056" y="4149330"/>
            <a:ext cx="7106119" cy="710565"/>
          </a:xfrm>
          <a:prstGeom prst="rect">
            <a:avLst/>
          </a:prstGeom>
        </p:spPr>
        <p:txBody>
          <a:bodyPr anchor="t" rtlCol="false" tIns="0" lIns="0" bIns="0" rIns="0">
            <a:spAutoFit/>
          </a:bodyPr>
          <a:lstStyle/>
          <a:p>
            <a:pPr algn="l" marL="0" indent="0" lvl="0">
              <a:lnSpc>
                <a:spcPts val="2835"/>
              </a:lnSpc>
            </a:pPr>
            <a:r>
              <a:rPr lang="en-US" b="true" sz="2025" spc="-50">
                <a:gradFill>
                  <a:gsLst>
                    <a:gs pos="0">
                      <a:srgbClr val="FF5757">
                        <a:alpha val="100000"/>
                      </a:srgbClr>
                    </a:gs>
                    <a:gs pos="100000">
                      <a:srgbClr val="8C52FF">
                        <a:alpha val="100000"/>
                      </a:srgbClr>
                    </a:gs>
                  </a:gsLst>
                  <a:lin ang="0"/>
                </a:gradFill>
                <a:latin typeface="Poppins Bold"/>
                <a:ea typeface="Poppins Bold"/>
                <a:cs typeface="Poppins Bold"/>
                <a:sym typeface="Poppins Bold"/>
              </a:rPr>
              <a:t>KEY REVENUE INSIGHTS ACROSS DEMOGRAPHICS AND PRODUCT CATEGORIES</a:t>
            </a:r>
          </a:p>
        </p:txBody>
      </p:sp>
      <p:sp>
        <p:nvSpPr>
          <p:cNvPr name="Freeform 6" id="6"/>
          <p:cNvSpPr/>
          <p:nvPr/>
        </p:nvSpPr>
        <p:spPr>
          <a:xfrm flipH="false" flipV="false" rot="-8687136">
            <a:off x="15580115" y="4542838"/>
            <a:ext cx="189150" cy="228643"/>
          </a:xfrm>
          <a:custGeom>
            <a:avLst/>
            <a:gdLst/>
            <a:ahLst/>
            <a:cxnLst/>
            <a:rect r="r" b="b" t="t" l="l"/>
            <a:pathLst>
              <a:path h="228643" w="189150">
                <a:moveTo>
                  <a:pt x="0" y="0"/>
                </a:moveTo>
                <a:lnTo>
                  <a:pt x="189150" y="0"/>
                </a:lnTo>
                <a:lnTo>
                  <a:pt x="189150" y="228644"/>
                </a:lnTo>
                <a:lnTo>
                  <a:pt x="0" y="2286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pic>
        <p:nvPicPr>
          <p:cNvPr name="Picture 7" id="7"/>
          <p:cNvPicPr>
            <a:picLocks noChangeAspect="true"/>
          </p:cNvPicPr>
          <p:nvPr/>
        </p:nvPicPr>
        <p:blipFill>
          <a:blip r:embed="rId4"/>
          <a:stretch>
            <a:fillRect/>
          </a:stretch>
        </p:blipFill>
        <p:spPr>
          <a:xfrm rot="0">
            <a:off x="-249661" y="-229254"/>
            <a:ext cx="7441664" cy="10076477"/>
          </a:xfrm>
          <a:prstGeom prst="rect">
            <a:avLst/>
          </a:prstGeom>
        </p:spPr>
      </p:pic>
      <p:grpSp>
        <p:nvGrpSpPr>
          <p:cNvPr name="Group 8" id="8"/>
          <p:cNvGrpSpPr/>
          <p:nvPr/>
        </p:nvGrpSpPr>
        <p:grpSpPr>
          <a:xfrm rot="0">
            <a:off x="16438046" y="351089"/>
            <a:ext cx="1849954" cy="1497078"/>
            <a:chOff x="0" y="0"/>
            <a:chExt cx="2466605" cy="1996104"/>
          </a:xfrm>
        </p:grpSpPr>
        <p:grpSp>
          <p:nvGrpSpPr>
            <p:cNvPr name="Group 9" id="9"/>
            <p:cNvGrpSpPr/>
            <p:nvPr/>
          </p:nvGrpSpPr>
          <p:grpSpPr>
            <a:xfrm rot="0">
              <a:off x="0" y="0"/>
              <a:ext cx="2466605" cy="1996104"/>
              <a:chOff x="0" y="0"/>
              <a:chExt cx="787566" cy="637339"/>
            </a:xfrm>
          </p:grpSpPr>
          <p:sp>
            <p:nvSpPr>
              <p:cNvPr name="Freeform 10" id="10"/>
              <p:cNvSpPr/>
              <p:nvPr/>
            </p:nvSpPr>
            <p:spPr>
              <a:xfrm flipH="false" flipV="false" rot="0">
                <a:off x="0" y="0"/>
                <a:ext cx="787566" cy="637339"/>
              </a:xfrm>
              <a:custGeom>
                <a:avLst/>
                <a:gdLst/>
                <a:ahLst/>
                <a:cxnLst/>
                <a:rect r="r" b="b" t="t" l="l"/>
                <a:pathLst>
                  <a:path h="637339" w="787566">
                    <a:moveTo>
                      <a:pt x="0" y="0"/>
                    </a:moveTo>
                    <a:lnTo>
                      <a:pt x="787566" y="0"/>
                    </a:lnTo>
                    <a:lnTo>
                      <a:pt x="787566" y="637339"/>
                    </a:lnTo>
                    <a:lnTo>
                      <a:pt x="0" y="637339"/>
                    </a:ln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p:spPr>
          </p:sp>
          <p:sp>
            <p:nvSpPr>
              <p:cNvPr name="TextBox 11" id="11"/>
              <p:cNvSpPr txBox="true"/>
              <p:nvPr/>
            </p:nvSpPr>
            <p:spPr>
              <a:xfrm>
                <a:off x="0" y="-38100"/>
                <a:ext cx="787566" cy="675439"/>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2" id="12"/>
            <p:cNvSpPr txBox="true"/>
            <p:nvPr/>
          </p:nvSpPr>
          <p:spPr>
            <a:xfrm rot="0">
              <a:off x="319164" y="655949"/>
              <a:ext cx="1828278" cy="769931"/>
            </a:xfrm>
            <a:prstGeom prst="rect">
              <a:avLst/>
            </a:prstGeom>
          </p:spPr>
          <p:txBody>
            <a:bodyPr anchor="t" rtlCol="false" tIns="0" lIns="0" bIns="0" rIns="0">
              <a:spAutoFit/>
            </a:bodyPr>
            <a:lstStyle/>
            <a:p>
              <a:pPr algn="ctr" marL="0" indent="0" lvl="0">
                <a:lnSpc>
                  <a:spcPts val="4134"/>
                </a:lnSpc>
              </a:pPr>
              <a:r>
                <a:rPr lang="en-US" sz="4218" spc="-269">
                  <a:solidFill>
                    <a:srgbClr val="FFFFFF"/>
                  </a:solidFill>
                  <a:latin typeface="Bricolage Grotesque"/>
                  <a:ea typeface="Bricolage Grotesque"/>
                  <a:cs typeface="Bricolage Grotesque"/>
                  <a:sym typeface="Bricolage Grotesque"/>
                </a:rPr>
                <a:t>05</a:t>
              </a:r>
            </a:p>
          </p:txBody>
        </p:sp>
      </p:grpSp>
      <p:sp>
        <p:nvSpPr>
          <p:cNvPr name="AutoShape 13" id="13"/>
          <p:cNvSpPr/>
          <p:nvPr/>
        </p:nvSpPr>
        <p:spPr>
          <a:xfrm flipH="true">
            <a:off x="6542795" y="0"/>
            <a:ext cx="0" cy="10287000"/>
          </a:xfrm>
          <a:prstGeom prst="line">
            <a:avLst/>
          </a:prstGeom>
          <a:ln cap="rnd" w="19050">
            <a:solidFill>
              <a:srgbClr val="3A58E4"/>
            </a:solidFill>
            <a:prstDash val="solid"/>
            <a:headEnd type="none" len="sm" w="sm"/>
            <a:tailEnd type="none" len="sm" w="sm"/>
          </a:ln>
        </p:spPr>
      </p:sp>
      <p:sp>
        <p:nvSpPr>
          <p:cNvPr name="Freeform 14" id="14"/>
          <p:cNvSpPr/>
          <p:nvPr/>
        </p:nvSpPr>
        <p:spPr>
          <a:xfrm flipH="false" flipV="false" rot="0">
            <a:off x="14681483" y="2064312"/>
            <a:ext cx="2869870" cy="1926023"/>
          </a:xfrm>
          <a:custGeom>
            <a:avLst/>
            <a:gdLst/>
            <a:ahLst/>
            <a:cxnLst/>
            <a:rect r="r" b="b" t="t" l="l"/>
            <a:pathLst>
              <a:path h="1926023" w="2869870">
                <a:moveTo>
                  <a:pt x="0" y="0"/>
                </a:moveTo>
                <a:lnTo>
                  <a:pt x="2869871" y="0"/>
                </a:lnTo>
                <a:lnTo>
                  <a:pt x="2869871" y="1926023"/>
                </a:lnTo>
                <a:lnTo>
                  <a:pt x="0" y="192602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5" id="15"/>
          <p:cNvSpPr txBox="true"/>
          <p:nvPr/>
        </p:nvSpPr>
        <p:spPr>
          <a:xfrm rot="0">
            <a:off x="8720122" y="3078546"/>
            <a:ext cx="5780387" cy="817373"/>
          </a:xfrm>
          <a:prstGeom prst="rect">
            <a:avLst/>
          </a:prstGeom>
        </p:spPr>
        <p:txBody>
          <a:bodyPr anchor="t" rtlCol="false" tIns="0" lIns="0" bIns="0" rIns="0">
            <a:spAutoFit/>
          </a:bodyPr>
          <a:lstStyle/>
          <a:p>
            <a:pPr algn="l" marL="0" indent="0" lvl="0">
              <a:lnSpc>
                <a:spcPts val="6178"/>
              </a:lnSpc>
            </a:pPr>
            <a:r>
              <a:rPr lang="en-US" sz="6304" spc="-403">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Revenue Analysis</a:t>
            </a:r>
          </a:p>
        </p:txBody>
      </p:sp>
      <p:sp>
        <p:nvSpPr>
          <p:cNvPr name="TextBox 16" id="16"/>
          <p:cNvSpPr txBox="true"/>
          <p:nvPr/>
        </p:nvSpPr>
        <p:spPr>
          <a:xfrm rot="0">
            <a:off x="8492056" y="5643060"/>
            <a:ext cx="7325824" cy="1332150"/>
          </a:xfrm>
          <a:prstGeom prst="rect">
            <a:avLst/>
          </a:prstGeom>
        </p:spPr>
        <p:txBody>
          <a:bodyPr anchor="t" rtlCol="false" tIns="0" lIns="0" bIns="0" rIns="0">
            <a:spAutoFit/>
          </a:bodyPr>
          <a:lstStyle/>
          <a:p>
            <a:pPr algn="just" marL="0" indent="0" lvl="0">
              <a:lnSpc>
                <a:spcPts val="2699"/>
              </a:lnSpc>
            </a:pPr>
            <a:r>
              <a:rPr lang="en-US" sz="1928" spc="-5">
                <a:solidFill>
                  <a:srgbClr val="3A58E4"/>
                </a:solidFill>
                <a:latin typeface="Poppins"/>
                <a:ea typeface="Poppins"/>
                <a:cs typeface="Poppins"/>
                <a:sym typeface="Poppins"/>
              </a:rPr>
              <a:t>Analysis of 3,900 customer transactions reveals distinct revenue patterns across demographic segments and product categories, providing actionable insights for targeted marketing strategies.</a:t>
            </a:r>
          </a:p>
        </p:txBody>
      </p:sp>
      <p:sp>
        <p:nvSpPr>
          <p:cNvPr name="TextBox 17" id="17"/>
          <p:cNvSpPr txBox="true"/>
          <p:nvPr/>
        </p:nvSpPr>
        <p:spPr>
          <a:xfrm rot="0">
            <a:off x="8492056" y="7294615"/>
            <a:ext cx="5481943" cy="1711244"/>
          </a:xfrm>
          <a:prstGeom prst="rect">
            <a:avLst/>
          </a:prstGeom>
        </p:spPr>
        <p:txBody>
          <a:bodyPr anchor="t" rtlCol="false" tIns="0" lIns="0" bIns="0" rIns="0">
            <a:spAutoFit/>
          </a:bodyPr>
          <a:lstStyle/>
          <a:p>
            <a:pPr algn="just" marL="0" indent="0" lvl="0">
              <a:lnSpc>
                <a:spcPts val="2279"/>
              </a:lnSpc>
            </a:pPr>
            <a:r>
              <a:rPr lang="en-US" sz="1628" i="true" spc="-4">
                <a:solidFill>
                  <a:srgbClr val="3A58E4"/>
                </a:solidFill>
                <a:latin typeface="Poppins Italics"/>
                <a:ea typeface="Poppins Italics"/>
                <a:cs typeface="Poppins Italics"/>
                <a:sym typeface="Poppins Italics"/>
              </a:rPr>
              <a:t>Revenue by Gender: Male vs Female customers</a:t>
            </a:r>
          </a:p>
          <a:p>
            <a:pPr algn="just" marL="0" indent="0" lvl="0">
              <a:lnSpc>
                <a:spcPts val="2279"/>
              </a:lnSpc>
            </a:pPr>
            <a:r>
              <a:rPr lang="en-US" sz="1628" i="true" spc="-4">
                <a:solidFill>
                  <a:srgbClr val="3A58E4"/>
                </a:solidFill>
                <a:latin typeface="Poppins Italics"/>
                <a:ea typeface="Poppins Italics"/>
                <a:cs typeface="Poppins Italics"/>
                <a:sym typeface="Poppins Italics"/>
              </a:rPr>
              <a:t>Age Group Leader: Young Adults drive highest revenue</a:t>
            </a:r>
          </a:p>
          <a:p>
            <a:pPr algn="just" marL="0" indent="0" lvl="0">
              <a:lnSpc>
                <a:spcPts val="2279"/>
              </a:lnSpc>
            </a:pPr>
            <a:r>
              <a:rPr lang="en-US" sz="1628" i="true" spc="-4">
                <a:solidFill>
                  <a:srgbClr val="3A58E4"/>
                </a:solidFill>
                <a:latin typeface="Poppins Italics"/>
                <a:ea typeface="Poppins Italics"/>
                <a:cs typeface="Poppins Italics"/>
                <a:sym typeface="Poppins Italics"/>
              </a:rPr>
              <a:t>Top Category: Clothing leads all product segments</a:t>
            </a:r>
          </a:p>
          <a:p>
            <a:pPr algn="just" marL="0" indent="0" lvl="0">
              <a:lnSpc>
                <a:spcPts val="2279"/>
              </a:lnSpc>
            </a:pPr>
            <a:r>
              <a:rPr lang="en-US" sz="1628" i="true" spc="-4">
                <a:solidFill>
                  <a:srgbClr val="3A58E4"/>
                </a:solidFill>
                <a:latin typeface="Poppins Italics"/>
                <a:ea typeface="Poppins Italics"/>
                <a:cs typeface="Poppins Italics"/>
                <a:sym typeface="Poppins Italics"/>
              </a:rPr>
              <a:t>Behavioral Patterns: Geographic and seasonal trends identified</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1358088"/>
            <a:ext cx="47625" cy="2040668"/>
            <a:chOff x="0" y="0"/>
            <a:chExt cx="12543" cy="537460"/>
          </a:xfrm>
        </p:grpSpPr>
        <p:sp>
          <p:nvSpPr>
            <p:cNvPr name="Freeform 3" id="3"/>
            <p:cNvSpPr/>
            <p:nvPr/>
          </p:nvSpPr>
          <p:spPr>
            <a:xfrm flipH="false" flipV="false" rot="0">
              <a:off x="0" y="0"/>
              <a:ext cx="12543" cy="537460"/>
            </a:xfrm>
            <a:custGeom>
              <a:avLst/>
              <a:gdLst/>
              <a:ahLst/>
              <a:cxnLst/>
              <a:rect r="r" b="b" t="t" l="l"/>
              <a:pathLst>
                <a:path h="537460" w="12543">
                  <a:moveTo>
                    <a:pt x="0" y="0"/>
                  </a:moveTo>
                  <a:lnTo>
                    <a:pt x="12543" y="0"/>
                  </a:lnTo>
                  <a:lnTo>
                    <a:pt x="12543" y="537460"/>
                  </a:lnTo>
                  <a:lnTo>
                    <a:pt x="0" y="537460"/>
                  </a:lnTo>
                  <a:close/>
                </a:path>
              </a:pathLst>
            </a:custGeom>
            <a:solidFill>
              <a:srgbClr val="3A58E4"/>
            </a:solidFill>
          </p:spPr>
        </p:sp>
        <p:sp>
          <p:nvSpPr>
            <p:cNvPr name="TextBox 4" id="4"/>
            <p:cNvSpPr txBox="true"/>
            <p:nvPr/>
          </p:nvSpPr>
          <p:spPr>
            <a:xfrm>
              <a:off x="0" y="-38100"/>
              <a:ext cx="12543" cy="57556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5" id="5"/>
          <p:cNvGrpSpPr/>
          <p:nvPr/>
        </p:nvGrpSpPr>
        <p:grpSpPr>
          <a:xfrm rot="0">
            <a:off x="546523" y="4038686"/>
            <a:ext cx="8172450" cy="653434"/>
            <a:chOff x="0" y="0"/>
            <a:chExt cx="10896600" cy="871245"/>
          </a:xfrm>
        </p:grpSpPr>
        <p:sp>
          <p:nvSpPr>
            <p:cNvPr name="TextBox 6" id="6"/>
            <p:cNvSpPr txBox="true"/>
            <p:nvPr/>
          </p:nvSpPr>
          <p:spPr>
            <a:xfrm rot="0">
              <a:off x="0" y="-57150"/>
              <a:ext cx="10820400" cy="928395"/>
            </a:xfrm>
            <a:prstGeom prst="rect">
              <a:avLst/>
            </a:prstGeom>
          </p:spPr>
          <p:txBody>
            <a:bodyPr anchor="t" rtlCol="false" tIns="0" lIns="0" bIns="0" rIns="0">
              <a:spAutoFit/>
            </a:bodyPr>
            <a:lstStyle/>
            <a:p>
              <a:pPr algn="l" marL="0" indent="0" lvl="0">
                <a:lnSpc>
                  <a:spcPts val="2833"/>
                </a:lnSpc>
              </a:pPr>
              <a:r>
                <a:rPr lang="en-US" b="true" sz="2024" spc="-50">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UNDERSTANDING CUSTOMER SUBSCRIPTION AND REPEAT BEHAVIOR</a:t>
              </a:r>
            </a:p>
          </p:txBody>
        </p:sp>
        <p:sp>
          <p:nvSpPr>
            <p:cNvPr name="Freeform 7" id="7"/>
            <p:cNvSpPr/>
            <p:nvPr/>
          </p:nvSpPr>
          <p:spPr>
            <a:xfrm flipH="false" flipV="false" rot="-8687136">
              <a:off x="10579580" y="410403"/>
              <a:ext cx="252200" cy="304858"/>
            </a:xfrm>
            <a:custGeom>
              <a:avLst/>
              <a:gdLst/>
              <a:ahLst/>
              <a:cxnLst/>
              <a:rect r="r" b="b" t="t" l="l"/>
              <a:pathLst>
                <a:path h="304858" w="252200">
                  <a:moveTo>
                    <a:pt x="0" y="0"/>
                  </a:moveTo>
                  <a:lnTo>
                    <a:pt x="252200" y="0"/>
                  </a:lnTo>
                  <a:lnTo>
                    <a:pt x="252200" y="304857"/>
                  </a:lnTo>
                  <a:lnTo>
                    <a:pt x="0" y="30485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8" id="8"/>
          <p:cNvGrpSpPr/>
          <p:nvPr/>
        </p:nvGrpSpPr>
        <p:grpSpPr>
          <a:xfrm rot="0">
            <a:off x="16438046" y="314842"/>
            <a:ext cx="1849954" cy="1533325"/>
            <a:chOff x="0" y="0"/>
            <a:chExt cx="2466605" cy="2044433"/>
          </a:xfrm>
        </p:grpSpPr>
        <p:grpSp>
          <p:nvGrpSpPr>
            <p:cNvPr name="Group 9" id="9"/>
            <p:cNvGrpSpPr/>
            <p:nvPr/>
          </p:nvGrpSpPr>
          <p:grpSpPr>
            <a:xfrm rot="0">
              <a:off x="0" y="0"/>
              <a:ext cx="2466605" cy="2044433"/>
              <a:chOff x="0" y="0"/>
              <a:chExt cx="787566" cy="652770"/>
            </a:xfrm>
          </p:grpSpPr>
          <p:sp>
            <p:nvSpPr>
              <p:cNvPr name="Freeform 10" id="10"/>
              <p:cNvSpPr/>
              <p:nvPr/>
            </p:nvSpPr>
            <p:spPr>
              <a:xfrm flipH="false" flipV="false" rot="0">
                <a:off x="0" y="0"/>
                <a:ext cx="787566" cy="652770"/>
              </a:xfrm>
              <a:custGeom>
                <a:avLst/>
                <a:gdLst/>
                <a:ahLst/>
                <a:cxnLst/>
                <a:rect r="r" b="b" t="t" l="l"/>
                <a:pathLst>
                  <a:path h="652770" w="787566">
                    <a:moveTo>
                      <a:pt x="0" y="0"/>
                    </a:moveTo>
                    <a:lnTo>
                      <a:pt x="787566" y="0"/>
                    </a:lnTo>
                    <a:lnTo>
                      <a:pt x="787566" y="652770"/>
                    </a:lnTo>
                    <a:lnTo>
                      <a:pt x="0" y="652770"/>
                    </a:ln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p:spPr>
          </p:sp>
          <p:sp>
            <p:nvSpPr>
              <p:cNvPr name="TextBox 11" id="11"/>
              <p:cNvSpPr txBox="true"/>
              <p:nvPr/>
            </p:nvSpPr>
            <p:spPr>
              <a:xfrm>
                <a:off x="0" y="-38100"/>
                <a:ext cx="787566" cy="69087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2" id="12"/>
            <p:cNvSpPr txBox="true"/>
            <p:nvPr/>
          </p:nvSpPr>
          <p:spPr>
            <a:xfrm rot="0">
              <a:off x="319164" y="655949"/>
              <a:ext cx="1828278" cy="818260"/>
            </a:xfrm>
            <a:prstGeom prst="rect">
              <a:avLst/>
            </a:prstGeom>
          </p:spPr>
          <p:txBody>
            <a:bodyPr anchor="t" rtlCol="false" tIns="0" lIns="0" bIns="0" rIns="0">
              <a:spAutoFit/>
            </a:bodyPr>
            <a:lstStyle/>
            <a:p>
              <a:pPr algn="ctr" marL="0" indent="0" lvl="0">
                <a:lnSpc>
                  <a:spcPts val="4403"/>
                </a:lnSpc>
              </a:pPr>
              <a:r>
                <a:rPr lang="en-US" sz="4493" spc="-287">
                  <a:solidFill>
                    <a:srgbClr val="FFFFFF"/>
                  </a:solidFill>
                  <a:latin typeface="Bricolage Grotesque"/>
                  <a:ea typeface="Bricolage Grotesque"/>
                  <a:cs typeface="Bricolage Grotesque"/>
                  <a:sym typeface="Bricolage Grotesque"/>
                </a:rPr>
                <a:t>06</a:t>
              </a:r>
            </a:p>
          </p:txBody>
        </p:sp>
      </p:grpSp>
      <p:sp>
        <p:nvSpPr>
          <p:cNvPr name="Freeform 13" id="13"/>
          <p:cNvSpPr/>
          <p:nvPr/>
        </p:nvSpPr>
        <p:spPr>
          <a:xfrm flipH="false" flipV="false" rot="0">
            <a:off x="570335" y="5400430"/>
            <a:ext cx="489071" cy="489071"/>
          </a:xfrm>
          <a:custGeom>
            <a:avLst/>
            <a:gdLst/>
            <a:ahLst/>
            <a:cxnLst/>
            <a:rect r="r" b="b" t="t" l="l"/>
            <a:pathLst>
              <a:path h="489071" w="489071">
                <a:moveTo>
                  <a:pt x="0" y="0"/>
                </a:moveTo>
                <a:lnTo>
                  <a:pt x="489071" y="0"/>
                </a:lnTo>
                <a:lnTo>
                  <a:pt x="489071" y="489071"/>
                </a:lnTo>
                <a:lnTo>
                  <a:pt x="0" y="4890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false" rot="0">
            <a:off x="570335" y="6391722"/>
            <a:ext cx="489071" cy="489071"/>
          </a:xfrm>
          <a:custGeom>
            <a:avLst/>
            <a:gdLst/>
            <a:ahLst/>
            <a:cxnLst/>
            <a:rect r="r" b="b" t="t" l="l"/>
            <a:pathLst>
              <a:path h="489071" w="489071">
                <a:moveTo>
                  <a:pt x="0" y="0"/>
                </a:moveTo>
                <a:lnTo>
                  <a:pt x="489071" y="0"/>
                </a:lnTo>
                <a:lnTo>
                  <a:pt x="489071" y="489071"/>
                </a:lnTo>
                <a:lnTo>
                  <a:pt x="0" y="4890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5" id="15"/>
          <p:cNvSpPr/>
          <p:nvPr/>
        </p:nvSpPr>
        <p:spPr>
          <a:xfrm flipH="false" flipV="false" rot="0">
            <a:off x="570335" y="7383013"/>
            <a:ext cx="489071" cy="489071"/>
          </a:xfrm>
          <a:custGeom>
            <a:avLst/>
            <a:gdLst/>
            <a:ahLst/>
            <a:cxnLst/>
            <a:rect r="r" b="b" t="t" l="l"/>
            <a:pathLst>
              <a:path h="489071" w="489071">
                <a:moveTo>
                  <a:pt x="0" y="0"/>
                </a:moveTo>
                <a:lnTo>
                  <a:pt x="489071" y="0"/>
                </a:lnTo>
                <a:lnTo>
                  <a:pt x="489071" y="489071"/>
                </a:lnTo>
                <a:lnTo>
                  <a:pt x="0" y="4890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false" rot="0">
            <a:off x="570335" y="8376909"/>
            <a:ext cx="489071" cy="489071"/>
          </a:xfrm>
          <a:custGeom>
            <a:avLst/>
            <a:gdLst/>
            <a:ahLst/>
            <a:cxnLst/>
            <a:rect r="r" b="b" t="t" l="l"/>
            <a:pathLst>
              <a:path h="489071" w="489071">
                <a:moveTo>
                  <a:pt x="0" y="0"/>
                </a:moveTo>
                <a:lnTo>
                  <a:pt x="489071" y="0"/>
                </a:lnTo>
                <a:lnTo>
                  <a:pt x="489071" y="489072"/>
                </a:lnTo>
                <a:lnTo>
                  <a:pt x="0" y="48907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7" id="17"/>
          <p:cNvSpPr txBox="true"/>
          <p:nvPr/>
        </p:nvSpPr>
        <p:spPr>
          <a:xfrm rot="0">
            <a:off x="1256766" y="1206794"/>
            <a:ext cx="5217559" cy="2521349"/>
          </a:xfrm>
          <a:prstGeom prst="rect">
            <a:avLst/>
          </a:prstGeom>
        </p:spPr>
        <p:txBody>
          <a:bodyPr anchor="t" rtlCol="false" tIns="0" lIns="0" bIns="0" rIns="0">
            <a:spAutoFit/>
          </a:bodyPr>
          <a:lstStyle/>
          <a:p>
            <a:pPr algn="l" marL="0" indent="0" lvl="0">
              <a:lnSpc>
                <a:spcPts val="6580"/>
              </a:lnSpc>
            </a:pPr>
            <a:r>
              <a:rPr lang="en-US" sz="6714" spc="-429">
                <a:gradFill>
                  <a:gsLst>
                    <a:gs pos="0">
                      <a:srgbClr val="FF5757">
                        <a:alpha val="100000"/>
                      </a:srgbClr>
                    </a:gs>
                    <a:gs pos="100000">
                      <a:srgbClr val="8C52FF">
                        <a:alpha val="100000"/>
                      </a:srgbClr>
                    </a:gs>
                  </a:gsLst>
                  <a:lin ang="0"/>
                </a:gradFill>
                <a:latin typeface="Bricolage Grotesque"/>
                <a:ea typeface="Bricolage Grotesque"/>
                <a:cs typeface="Bricolage Grotesque"/>
                <a:sym typeface="Bricolage Grotesque"/>
              </a:rPr>
              <a:t>Customer Loyalty Insights</a:t>
            </a:r>
          </a:p>
        </p:txBody>
      </p:sp>
      <p:sp>
        <p:nvSpPr>
          <p:cNvPr name="TextBox 18" id="18"/>
          <p:cNvSpPr txBox="true"/>
          <p:nvPr/>
        </p:nvSpPr>
        <p:spPr>
          <a:xfrm rot="0">
            <a:off x="1388024" y="5190743"/>
            <a:ext cx="7273799" cy="826044"/>
          </a:xfrm>
          <a:prstGeom prst="rect">
            <a:avLst/>
          </a:prstGeom>
        </p:spPr>
        <p:txBody>
          <a:bodyPr anchor="t" rtlCol="false" tIns="0" lIns="0" bIns="0" rIns="0">
            <a:spAutoFit/>
          </a:bodyPr>
          <a:lstStyle/>
          <a:p>
            <a:pPr algn="just" marL="0" indent="0" lvl="0">
              <a:lnSpc>
                <a:spcPts val="3295"/>
              </a:lnSpc>
            </a:pPr>
            <a:r>
              <a:rPr lang="en-US" sz="2353" spc="-58">
                <a:solidFill>
                  <a:srgbClr val="3A58E4"/>
                </a:solidFill>
                <a:latin typeface="Poppins"/>
                <a:ea typeface="Poppins"/>
                <a:cs typeface="Poppins"/>
                <a:sym typeface="Poppins"/>
              </a:rPr>
              <a:t>Subscribed customers: 1,053 vs Non-subscribed: 2,847 showing growth opportunity.</a:t>
            </a:r>
          </a:p>
        </p:txBody>
      </p:sp>
      <p:sp>
        <p:nvSpPr>
          <p:cNvPr name="TextBox 19" id="19"/>
          <p:cNvSpPr txBox="true"/>
          <p:nvPr/>
        </p:nvSpPr>
        <p:spPr>
          <a:xfrm rot="0">
            <a:off x="1388024" y="6182034"/>
            <a:ext cx="7273799" cy="826044"/>
          </a:xfrm>
          <a:prstGeom prst="rect">
            <a:avLst/>
          </a:prstGeom>
        </p:spPr>
        <p:txBody>
          <a:bodyPr anchor="t" rtlCol="false" tIns="0" lIns="0" bIns="0" rIns="0">
            <a:spAutoFit/>
          </a:bodyPr>
          <a:lstStyle/>
          <a:p>
            <a:pPr algn="just" marL="0" indent="0" lvl="0">
              <a:lnSpc>
                <a:spcPts val="3295"/>
              </a:lnSpc>
            </a:pPr>
            <a:r>
              <a:rPr lang="en-US" sz="2353" spc="-58">
                <a:solidFill>
                  <a:srgbClr val="3A58E4"/>
                </a:solidFill>
                <a:latin typeface="Poppins"/>
                <a:ea typeface="Poppins"/>
                <a:cs typeface="Poppins"/>
                <a:sym typeface="Poppins"/>
              </a:rPr>
              <a:t>Repeat customers represent 97.87% of the total customer base.</a:t>
            </a:r>
          </a:p>
        </p:txBody>
      </p:sp>
      <p:sp>
        <p:nvSpPr>
          <p:cNvPr name="TextBox 20" id="20"/>
          <p:cNvSpPr txBox="true"/>
          <p:nvPr/>
        </p:nvSpPr>
        <p:spPr>
          <a:xfrm rot="0">
            <a:off x="1388024" y="7173326"/>
            <a:ext cx="7273799" cy="826044"/>
          </a:xfrm>
          <a:prstGeom prst="rect">
            <a:avLst/>
          </a:prstGeom>
        </p:spPr>
        <p:txBody>
          <a:bodyPr anchor="t" rtlCol="false" tIns="0" lIns="0" bIns="0" rIns="0">
            <a:spAutoFit/>
          </a:bodyPr>
          <a:lstStyle/>
          <a:p>
            <a:pPr algn="just" marL="0" indent="0" lvl="0">
              <a:lnSpc>
                <a:spcPts val="3295"/>
              </a:lnSpc>
            </a:pPr>
            <a:r>
              <a:rPr lang="en-US" sz="2353" spc="-58">
                <a:solidFill>
                  <a:srgbClr val="3A58E4"/>
                </a:solidFill>
                <a:latin typeface="Poppins"/>
                <a:ea typeface="Poppins"/>
                <a:cs typeface="Poppins"/>
                <a:sym typeface="Poppins"/>
              </a:rPr>
              <a:t>Loyal segment leads with 3,116 customers, followed by Returning (701).</a:t>
            </a:r>
          </a:p>
        </p:txBody>
      </p:sp>
      <p:sp>
        <p:nvSpPr>
          <p:cNvPr name="TextBox 21" id="21"/>
          <p:cNvSpPr txBox="true"/>
          <p:nvPr/>
        </p:nvSpPr>
        <p:spPr>
          <a:xfrm rot="0">
            <a:off x="1388024" y="8164618"/>
            <a:ext cx="7273799" cy="826044"/>
          </a:xfrm>
          <a:prstGeom prst="rect">
            <a:avLst/>
          </a:prstGeom>
        </p:spPr>
        <p:txBody>
          <a:bodyPr anchor="t" rtlCol="false" tIns="0" lIns="0" bIns="0" rIns="0">
            <a:spAutoFit/>
          </a:bodyPr>
          <a:lstStyle/>
          <a:p>
            <a:pPr algn="just" marL="0" indent="0" lvl="0">
              <a:lnSpc>
                <a:spcPts val="3295"/>
              </a:lnSpc>
            </a:pPr>
            <a:r>
              <a:rPr lang="en-US" sz="2353" spc="-58">
                <a:solidFill>
                  <a:srgbClr val="3A58E4"/>
                </a:solidFill>
                <a:latin typeface="Poppins"/>
                <a:ea typeface="Poppins"/>
                <a:cs typeface="Poppins"/>
                <a:sym typeface="Poppins"/>
              </a:rPr>
              <a:t>New customer acquisition at 83 indicates retention-focused business model.</a:t>
            </a:r>
          </a:p>
        </p:txBody>
      </p:sp>
      <p:sp>
        <p:nvSpPr>
          <p:cNvPr name="Freeform 22" id="22"/>
          <p:cNvSpPr/>
          <p:nvPr/>
        </p:nvSpPr>
        <p:spPr>
          <a:xfrm flipH="false" flipV="false" rot="-24000">
            <a:off x="9163729" y="3235849"/>
            <a:ext cx="14060042" cy="5701136"/>
          </a:xfrm>
          <a:custGeom>
            <a:avLst/>
            <a:gdLst/>
            <a:ahLst/>
            <a:cxnLst/>
            <a:rect r="r" b="b" t="t" l="l"/>
            <a:pathLst>
              <a:path h="5701136" w="14060042">
                <a:moveTo>
                  <a:pt x="0" y="0"/>
                </a:moveTo>
                <a:lnTo>
                  <a:pt x="14060043" y="0"/>
                </a:lnTo>
                <a:lnTo>
                  <a:pt x="14060043" y="5701136"/>
                </a:lnTo>
                <a:lnTo>
                  <a:pt x="0" y="5701136"/>
                </a:lnTo>
                <a:lnTo>
                  <a:pt x="0" y="0"/>
                </a:lnTo>
                <a:close/>
              </a:path>
            </a:pathLst>
          </a:custGeom>
          <a:blipFill>
            <a:blip r:embed="rId6"/>
            <a:stretch>
              <a:fillRect l="-4754" t="-33721" r="0" b="-10628"/>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6938179" cy="10287000"/>
            <a:chOff x="0" y="0"/>
            <a:chExt cx="1827339" cy="2709333"/>
          </a:xfrm>
        </p:grpSpPr>
        <p:sp>
          <p:nvSpPr>
            <p:cNvPr name="Freeform 3" id="3"/>
            <p:cNvSpPr/>
            <p:nvPr/>
          </p:nvSpPr>
          <p:spPr>
            <a:xfrm flipH="false" flipV="false" rot="0">
              <a:off x="0" y="0"/>
              <a:ext cx="1827339" cy="2709333"/>
            </a:xfrm>
            <a:custGeom>
              <a:avLst/>
              <a:gdLst/>
              <a:ahLst/>
              <a:cxnLst/>
              <a:rect r="r" b="b" t="t" l="l"/>
              <a:pathLst>
                <a:path h="2709333" w="1827339">
                  <a:moveTo>
                    <a:pt x="0" y="0"/>
                  </a:moveTo>
                  <a:lnTo>
                    <a:pt x="1827339" y="0"/>
                  </a:lnTo>
                  <a:lnTo>
                    <a:pt x="1827339" y="2709333"/>
                  </a:lnTo>
                  <a:lnTo>
                    <a:pt x="0" y="2709333"/>
                  </a:ln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p:spPr>
        </p:sp>
        <p:sp>
          <p:nvSpPr>
            <p:cNvPr name="TextBox 4" id="4"/>
            <p:cNvSpPr txBox="true"/>
            <p:nvPr/>
          </p:nvSpPr>
          <p:spPr>
            <a:xfrm>
              <a:off x="0" y="-38100"/>
              <a:ext cx="1827339" cy="274743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5" id="5"/>
          <p:cNvSpPr/>
          <p:nvPr/>
        </p:nvSpPr>
        <p:spPr>
          <a:xfrm flipH="false" flipV="false" rot="0">
            <a:off x="5343219" y="4032536"/>
            <a:ext cx="3189919" cy="620584"/>
          </a:xfrm>
          <a:custGeom>
            <a:avLst/>
            <a:gdLst/>
            <a:ahLst/>
            <a:cxnLst/>
            <a:rect r="r" b="b" t="t" l="l"/>
            <a:pathLst>
              <a:path h="620584" w="3189919">
                <a:moveTo>
                  <a:pt x="0" y="0"/>
                </a:moveTo>
                <a:lnTo>
                  <a:pt x="3189919" y="0"/>
                </a:lnTo>
                <a:lnTo>
                  <a:pt x="3189919" y="620584"/>
                </a:lnTo>
                <a:lnTo>
                  <a:pt x="0" y="620584"/>
                </a:lnTo>
                <a:lnTo>
                  <a:pt x="0" y="0"/>
                </a:lnTo>
                <a:close/>
              </a:path>
            </a:pathLst>
          </a:custGeom>
          <a:blipFill>
            <a:blip r:embed="rId2"/>
            <a:stretch>
              <a:fillRect l="0" t="0" r="0" b="0"/>
            </a:stretch>
          </a:blipFill>
        </p:spPr>
      </p:sp>
      <p:grpSp>
        <p:nvGrpSpPr>
          <p:cNvPr name="Group 6" id="6"/>
          <p:cNvGrpSpPr/>
          <p:nvPr/>
        </p:nvGrpSpPr>
        <p:grpSpPr>
          <a:xfrm rot="0">
            <a:off x="5459316" y="1438329"/>
            <a:ext cx="2920486" cy="2916826"/>
            <a:chOff x="0" y="0"/>
            <a:chExt cx="567580" cy="566868"/>
          </a:xfrm>
        </p:grpSpPr>
        <p:sp>
          <p:nvSpPr>
            <p:cNvPr name="Freeform 7" id="7"/>
            <p:cNvSpPr/>
            <p:nvPr/>
          </p:nvSpPr>
          <p:spPr>
            <a:xfrm flipH="false" flipV="false" rot="0">
              <a:off x="0" y="0"/>
              <a:ext cx="567580" cy="566868"/>
            </a:xfrm>
            <a:custGeom>
              <a:avLst/>
              <a:gdLst/>
              <a:ahLst/>
              <a:cxnLst/>
              <a:rect r="r" b="b" t="t" l="l"/>
              <a:pathLst>
                <a:path h="566868" w="567580">
                  <a:moveTo>
                    <a:pt x="119291" y="0"/>
                  </a:moveTo>
                  <a:lnTo>
                    <a:pt x="448289" y="0"/>
                  </a:lnTo>
                  <a:cubicBezTo>
                    <a:pt x="514171" y="0"/>
                    <a:pt x="567580" y="53408"/>
                    <a:pt x="567580" y="119291"/>
                  </a:cubicBezTo>
                  <a:lnTo>
                    <a:pt x="567580" y="447578"/>
                  </a:lnTo>
                  <a:cubicBezTo>
                    <a:pt x="567580" y="479216"/>
                    <a:pt x="555012" y="509558"/>
                    <a:pt x="532640" y="531929"/>
                  </a:cubicBezTo>
                  <a:cubicBezTo>
                    <a:pt x="510269" y="554300"/>
                    <a:pt x="479927" y="566868"/>
                    <a:pt x="448289" y="566868"/>
                  </a:cubicBezTo>
                  <a:lnTo>
                    <a:pt x="119291" y="566868"/>
                  </a:lnTo>
                  <a:cubicBezTo>
                    <a:pt x="87653" y="566868"/>
                    <a:pt x="57311" y="554300"/>
                    <a:pt x="34939" y="531929"/>
                  </a:cubicBezTo>
                  <a:cubicBezTo>
                    <a:pt x="12568" y="509558"/>
                    <a:pt x="0" y="479216"/>
                    <a:pt x="0" y="447578"/>
                  </a:cubicBezTo>
                  <a:lnTo>
                    <a:pt x="0" y="119291"/>
                  </a:lnTo>
                  <a:cubicBezTo>
                    <a:pt x="0" y="53408"/>
                    <a:pt x="53408" y="0"/>
                    <a:pt x="119291" y="0"/>
                  </a:cubicBezTo>
                  <a:close/>
                </a:path>
              </a:pathLst>
            </a:custGeom>
            <a:gradFill rotWithShape="true">
              <a:gsLst>
                <a:gs pos="0">
                  <a:srgbClr val="FF5757">
                    <a:alpha val="100000"/>
                  </a:srgbClr>
                </a:gs>
                <a:gs pos="100000">
                  <a:srgbClr val="8C52FF">
                    <a:alpha val="100000"/>
                  </a:srgbClr>
                </a:gs>
              </a:gsLst>
              <a:lin ang="0"/>
            </a:gradFill>
            <a:ln cap="rnd">
              <a:noFill/>
              <a:prstDash val="solid"/>
              <a:round/>
            </a:ln>
          </p:spPr>
        </p:sp>
        <p:sp>
          <p:nvSpPr>
            <p:cNvPr name="TextBox 8" id="8"/>
            <p:cNvSpPr txBox="true"/>
            <p:nvPr/>
          </p:nvSpPr>
          <p:spPr>
            <a:xfrm>
              <a:off x="0" y="28575"/>
              <a:ext cx="567580" cy="538293"/>
            </a:xfrm>
            <a:prstGeom prst="rect">
              <a:avLst/>
            </a:prstGeom>
          </p:spPr>
          <p:txBody>
            <a:bodyPr anchor="ctr" rtlCol="false" tIns="65745" lIns="65745" bIns="65745" rIns="65745"/>
            <a:lstStyle/>
            <a:p>
              <a:pPr algn="ctr" marL="0" indent="0" lvl="0">
                <a:lnSpc>
                  <a:spcPts val="2460"/>
                </a:lnSpc>
              </a:pPr>
            </a:p>
          </p:txBody>
        </p:sp>
      </p:grpSp>
      <p:sp>
        <p:nvSpPr>
          <p:cNvPr name="Freeform 9" id="9"/>
          <p:cNvSpPr/>
          <p:nvPr/>
        </p:nvSpPr>
        <p:spPr>
          <a:xfrm flipH="false" flipV="false" rot="0">
            <a:off x="718768" y="4032536"/>
            <a:ext cx="851886" cy="1047774"/>
          </a:xfrm>
          <a:custGeom>
            <a:avLst/>
            <a:gdLst/>
            <a:ahLst/>
            <a:cxnLst/>
            <a:rect r="r" b="b" t="t" l="l"/>
            <a:pathLst>
              <a:path h="1047774" w="851886">
                <a:moveTo>
                  <a:pt x="0" y="0"/>
                </a:moveTo>
                <a:lnTo>
                  <a:pt x="851886" y="0"/>
                </a:lnTo>
                <a:lnTo>
                  <a:pt x="851886" y="1047774"/>
                </a:lnTo>
                <a:lnTo>
                  <a:pt x="0" y="1047774"/>
                </a:lnTo>
                <a:lnTo>
                  <a:pt x="0" y="0"/>
                </a:lnTo>
                <a:close/>
              </a:path>
            </a:pathLst>
          </a:custGeom>
          <a:blipFill>
            <a:blip r:embed="rId3"/>
            <a:stretch>
              <a:fillRect l="0" t="0" r="0" b="0"/>
            </a:stretch>
          </a:blipFill>
        </p:spPr>
      </p:sp>
      <p:grpSp>
        <p:nvGrpSpPr>
          <p:cNvPr name="Group 10" id="10"/>
          <p:cNvGrpSpPr/>
          <p:nvPr/>
        </p:nvGrpSpPr>
        <p:grpSpPr>
          <a:xfrm rot="0">
            <a:off x="1028700" y="1196251"/>
            <a:ext cx="24226" cy="1038034"/>
            <a:chOff x="0" y="0"/>
            <a:chExt cx="12543" cy="537460"/>
          </a:xfrm>
        </p:grpSpPr>
        <p:sp>
          <p:nvSpPr>
            <p:cNvPr name="Freeform 11" id="11"/>
            <p:cNvSpPr/>
            <p:nvPr/>
          </p:nvSpPr>
          <p:spPr>
            <a:xfrm flipH="false" flipV="false" rot="0">
              <a:off x="0" y="0"/>
              <a:ext cx="12543" cy="537460"/>
            </a:xfrm>
            <a:custGeom>
              <a:avLst/>
              <a:gdLst/>
              <a:ahLst/>
              <a:cxnLst/>
              <a:rect r="r" b="b" t="t" l="l"/>
              <a:pathLst>
                <a:path h="537460" w="12543">
                  <a:moveTo>
                    <a:pt x="0" y="0"/>
                  </a:moveTo>
                  <a:lnTo>
                    <a:pt x="12543" y="0"/>
                  </a:lnTo>
                  <a:lnTo>
                    <a:pt x="12543" y="537460"/>
                  </a:lnTo>
                  <a:lnTo>
                    <a:pt x="0" y="537460"/>
                  </a:lnTo>
                  <a:close/>
                </a:path>
              </a:pathLst>
            </a:custGeom>
            <a:solidFill>
              <a:srgbClr val="FFFFFF"/>
            </a:solidFill>
          </p:spPr>
        </p:sp>
        <p:sp>
          <p:nvSpPr>
            <p:cNvPr name="TextBox 12" id="12"/>
            <p:cNvSpPr txBox="true"/>
            <p:nvPr/>
          </p:nvSpPr>
          <p:spPr>
            <a:xfrm>
              <a:off x="0" y="-38100"/>
              <a:ext cx="12543" cy="57556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3" id="13"/>
          <p:cNvSpPr/>
          <p:nvPr/>
        </p:nvSpPr>
        <p:spPr>
          <a:xfrm flipH="false" flipV="false" rot="0">
            <a:off x="1960914" y="4342828"/>
            <a:ext cx="1936906" cy="936758"/>
          </a:xfrm>
          <a:custGeom>
            <a:avLst/>
            <a:gdLst/>
            <a:ahLst/>
            <a:cxnLst/>
            <a:rect r="r" b="b" t="t" l="l"/>
            <a:pathLst>
              <a:path h="936758" w="1936906">
                <a:moveTo>
                  <a:pt x="0" y="0"/>
                </a:moveTo>
                <a:lnTo>
                  <a:pt x="1936906" y="0"/>
                </a:lnTo>
                <a:lnTo>
                  <a:pt x="1936906" y="936758"/>
                </a:lnTo>
                <a:lnTo>
                  <a:pt x="0" y="93675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false" rot="0">
            <a:off x="4271703" y="4244281"/>
            <a:ext cx="1187613" cy="1083967"/>
          </a:xfrm>
          <a:custGeom>
            <a:avLst/>
            <a:gdLst/>
            <a:ahLst/>
            <a:cxnLst/>
            <a:rect r="r" b="b" t="t" l="l"/>
            <a:pathLst>
              <a:path h="1083967" w="1187613">
                <a:moveTo>
                  <a:pt x="0" y="0"/>
                </a:moveTo>
                <a:lnTo>
                  <a:pt x="1187613" y="0"/>
                </a:lnTo>
                <a:lnTo>
                  <a:pt x="1187613" y="1083967"/>
                </a:lnTo>
                <a:lnTo>
                  <a:pt x="0" y="10839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5" id="15"/>
          <p:cNvSpPr/>
          <p:nvPr/>
        </p:nvSpPr>
        <p:spPr>
          <a:xfrm flipH="false" flipV="false" rot="0">
            <a:off x="1570654" y="2733759"/>
            <a:ext cx="1417984" cy="1621396"/>
          </a:xfrm>
          <a:custGeom>
            <a:avLst/>
            <a:gdLst/>
            <a:ahLst/>
            <a:cxnLst/>
            <a:rect r="r" b="b" t="t" l="l"/>
            <a:pathLst>
              <a:path h="1621396" w="1417984">
                <a:moveTo>
                  <a:pt x="0" y="0"/>
                </a:moveTo>
                <a:lnTo>
                  <a:pt x="1417984" y="0"/>
                </a:lnTo>
                <a:lnTo>
                  <a:pt x="1417984" y="1621396"/>
                </a:lnTo>
                <a:lnTo>
                  <a:pt x="0" y="162139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6" id="16"/>
          <p:cNvSpPr/>
          <p:nvPr/>
        </p:nvSpPr>
        <p:spPr>
          <a:xfrm flipH="false" flipV="false" rot="0">
            <a:off x="3218143" y="2628102"/>
            <a:ext cx="1688674" cy="1513666"/>
          </a:xfrm>
          <a:custGeom>
            <a:avLst/>
            <a:gdLst/>
            <a:ahLst/>
            <a:cxnLst/>
            <a:rect r="r" b="b" t="t" l="l"/>
            <a:pathLst>
              <a:path h="1513666" w="1688674">
                <a:moveTo>
                  <a:pt x="0" y="0"/>
                </a:moveTo>
                <a:lnTo>
                  <a:pt x="1688674" y="0"/>
                </a:lnTo>
                <a:lnTo>
                  <a:pt x="1688674" y="1513666"/>
                </a:lnTo>
                <a:lnTo>
                  <a:pt x="0" y="1513666"/>
                </a:lnTo>
                <a:lnTo>
                  <a:pt x="0" y="0"/>
                </a:lnTo>
                <a:close/>
              </a:path>
            </a:pathLst>
          </a:custGeom>
          <a:blipFill>
            <a:blip r:embed="rId10"/>
            <a:stretch>
              <a:fillRect l="0" t="0" r="0" b="0"/>
            </a:stretch>
          </a:blipFill>
        </p:spPr>
      </p:sp>
      <p:sp>
        <p:nvSpPr>
          <p:cNvPr name="TextBox 17" id="17"/>
          <p:cNvSpPr txBox="true"/>
          <p:nvPr/>
        </p:nvSpPr>
        <p:spPr>
          <a:xfrm rot="0">
            <a:off x="5708475" y="2199673"/>
            <a:ext cx="2459408" cy="807581"/>
          </a:xfrm>
          <a:prstGeom prst="rect">
            <a:avLst/>
          </a:prstGeom>
        </p:spPr>
        <p:txBody>
          <a:bodyPr anchor="t" rtlCol="false" tIns="0" lIns="0" bIns="0" rIns="0">
            <a:spAutoFit/>
          </a:bodyPr>
          <a:lstStyle/>
          <a:p>
            <a:pPr algn="ctr" marL="0" indent="0" lvl="0">
              <a:lnSpc>
                <a:spcPts val="6024"/>
              </a:lnSpc>
            </a:pPr>
            <a:r>
              <a:rPr lang="en-US" b="true" sz="6085" spc="-182">
                <a:solidFill>
                  <a:srgbClr val="FFFFFF"/>
                </a:solidFill>
                <a:latin typeface="Bricolage Grotesque Bold"/>
                <a:ea typeface="Bricolage Grotesque Bold"/>
                <a:cs typeface="Bricolage Grotesque Bold"/>
                <a:sym typeface="Bricolage Grotesque Bold"/>
              </a:rPr>
              <a:t>171</a:t>
            </a:r>
          </a:p>
        </p:txBody>
      </p:sp>
      <p:sp>
        <p:nvSpPr>
          <p:cNvPr name="TextBox 18" id="18"/>
          <p:cNvSpPr txBox="true"/>
          <p:nvPr/>
        </p:nvSpPr>
        <p:spPr>
          <a:xfrm rot="0">
            <a:off x="5940959" y="3004609"/>
            <a:ext cx="1957200" cy="703501"/>
          </a:xfrm>
          <a:prstGeom prst="rect">
            <a:avLst/>
          </a:prstGeom>
        </p:spPr>
        <p:txBody>
          <a:bodyPr anchor="t" rtlCol="false" tIns="0" lIns="0" bIns="0" rIns="0">
            <a:spAutoFit/>
          </a:bodyPr>
          <a:lstStyle/>
          <a:p>
            <a:pPr algn="ctr" marL="0" indent="0" lvl="0">
              <a:lnSpc>
                <a:spcPts val="2847"/>
              </a:lnSpc>
            </a:pPr>
            <a:r>
              <a:rPr lang="en-US" sz="2034" spc="-50">
                <a:solidFill>
                  <a:srgbClr val="FFFFFF"/>
                </a:solidFill>
                <a:latin typeface="Poppins"/>
                <a:ea typeface="Poppins"/>
                <a:cs typeface="Poppins"/>
                <a:sym typeface="Poppins"/>
              </a:rPr>
              <a:t>TOP ORDERS</a:t>
            </a:r>
          </a:p>
          <a:p>
            <a:pPr algn="ctr" marL="0" indent="0" lvl="0">
              <a:lnSpc>
                <a:spcPts val="2847"/>
              </a:lnSpc>
            </a:pPr>
            <a:r>
              <a:rPr lang="en-US" sz="2034" spc="-50">
                <a:solidFill>
                  <a:srgbClr val="FFFFFF"/>
                </a:solidFill>
                <a:latin typeface="Poppins"/>
                <a:ea typeface="Poppins"/>
                <a:cs typeface="Poppins"/>
                <a:sym typeface="Poppins"/>
              </a:rPr>
              <a:t>PER CATEGORY</a:t>
            </a:r>
          </a:p>
        </p:txBody>
      </p:sp>
      <p:sp>
        <p:nvSpPr>
          <p:cNvPr name="TextBox 19" id="19"/>
          <p:cNvSpPr txBox="true"/>
          <p:nvPr/>
        </p:nvSpPr>
        <p:spPr>
          <a:xfrm rot="0">
            <a:off x="1028700" y="5490173"/>
            <a:ext cx="4378886" cy="526016"/>
          </a:xfrm>
          <a:prstGeom prst="rect">
            <a:avLst/>
          </a:prstGeom>
        </p:spPr>
        <p:txBody>
          <a:bodyPr anchor="t" rtlCol="false" tIns="0" lIns="0" bIns="0" rIns="0">
            <a:spAutoFit/>
          </a:bodyPr>
          <a:lstStyle/>
          <a:p>
            <a:pPr algn="l" marL="0" indent="0" lvl="0">
              <a:lnSpc>
                <a:spcPts val="4593"/>
              </a:lnSpc>
            </a:pPr>
            <a:r>
              <a:rPr lang="en-US" b="true" sz="2126">
                <a:solidFill>
                  <a:srgbClr val="FFFFFF"/>
                </a:solidFill>
                <a:latin typeface="Poppins Bold"/>
                <a:ea typeface="Poppins Bold"/>
                <a:cs typeface="Poppins Bold"/>
                <a:sym typeface="Poppins Bold"/>
              </a:rPr>
              <a:t>ACCESSORIES</a:t>
            </a:r>
          </a:p>
        </p:txBody>
      </p:sp>
      <p:sp>
        <p:nvSpPr>
          <p:cNvPr name="TextBox 20" id="20"/>
          <p:cNvSpPr txBox="true"/>
          <p:nvPr/>
        </p:nvSpPr>
        <p:spPr>
          <a:xfrm rot="0">
            <a:off x="1028700" y="6058910"/>
            <a:ext cx="4378886" cy="583249"/>
          </a:xfrm>
          <a:prstGeom prst="rect">
            <a:avLst/>
          </a:prstGeom>
        </p:spPr>
        <p:txBody>
          <a:bodyPr anchor="t" rtlCol="false" tIns="0" lIns="0" bIns="0" rIns="0">
            <a:spAutoFit/>
          </a:bodyPr>
          <a:lstStyle/>
          <a:p>
            <a:pPr algn="just" marL="0" indent="0" lvl="0">
              <a:lnSpc>
                <a:spcPts val="2207"/>
              </a:lnSpc>
            </a:pPr>
            <a:r>
              <a:rPr lang="en-US" sz="1809">
                <a:solidFill>
                  <a:srgbClr val="FFFFFF"/>
                </a:solidFill>
                <a:latin typeface="Poppins"/>
                <a:ea typeface="Poppins"/>
                <a:cs typeface="Poppins"/>
                <a:sym typeface="Poppins"/>
              </a:rPr>
              <a:t>Jewelry leads with 171 orders, followed by Sunglasses and Belt at 161 each.</a:t>
            </a:r>
          </a:p>
        </p:txBody>
      </p:sp>
      <p:grpSp>
        <p:nvGrpSpPr>
          <p:cNvPr name="Group 21" id="21"/>
          <p:cNvGrpSpPr/>
          <p:nvPr/>
        </p:nvGrpSpPr>
        <p:grpSpPr>
          <a:xfrm rot="0">
            <a:off x="1028700" y="7006271"/>
            <a:ext cx="4378886" cy="942439"/>
            <a:chOff x="0" y="0"/>
            <a:chExt cx="5838515" cy="1256586"/>
          </a:xfrm>
        </p:grpSpPr>
        <p:sp>
          <p:nvSpPr>
            <p:cNvPr name="TextBox 22" id="22"/>
            <p:cNvSpPr txBox="true"/>
            <p:nvPr/>
          </p:nvSpPr>
          <p:spPr>
            <a:xfrm rot="0">
              <a:off x="0" y="-209550"/>
              <a:ext cx="5838515" cy="631505"/>
            </a:xfrm>
            <a:prstGeom prst="rect">
              <a:avLst/>
            </a:prstGeom>
          </p:spPr>
          <p:txBody>
            <a:bodyPr anchor="t" rtlCol="false" tIns="0" lIns="0" bIns="0" rIns="0">
              <a:spAutoFit/>
            </a:bodyPr>
            <a:lstStyle/>
            <a:p>
              <a:pPr algn="l" marL="0" indent="0" lvl="0">
                <a:lnSpc>
                  <a:spcPts val="4593"/>
                </a:lnSpc>
              </a:pPr>
              <a:r>
                <a:rPr lang="en-US" b="true" sz="2126">
                  <a:solidFill>
                    <a:srgbClr val="FFFFFF"/>
                  </a:solidFill>
                  <a:latin typeface="Poppins Bold"/>
                  <a:ea typeface="Poppins Bold"/>
                  <a:cs typeface="Poppins Bold"/>
                  <a:sym typeface="Poppins Bold"/>
                </a:rPr>
                <a:t>CLOTHING</a:t>
              </a:r>
            </a:p>
          </p:txBody>
        </p:sp>
        <p:sp>
          <p:nvSpPr>
            <p:cNvPr name="TextBox 23" id="23"/>
            <p:cNvSpPr txBox="true"/>
            <p:nvPr/>
          </p:nvSpPr>
          <p:spPr>
            <a:xfrm rot="0">
              <a:off x="0" y="488445"/>
              <a:ext cx="5838515" cy="768141"/>
            </a:xfrm>
            <a:prstGeom prst="rect">
              <a:avLst/>
            </a:prstGeom>
          </p:spPr>
          <p:txBody>
            <a:bodyPr anchor="t" rtlCol="false" tIns="0" lIns="0" bIns="0" rIns="0">
              <a:spAutoFit/>
            </a:bodyPr>
            <a:lstStyle/>
            <a:p>
              <a:pPr algn="just" marL="0" indent="0" lvl="0">
                <a:lnSpc>
                  <a:spcPts val="2207"/>
                </a:lnSpc>
              </a:pPr>
              <a:r>
                <a:rPr lang="en-US" sz="1809">
                  <a:solidFill>
                    <a:srgbClr val="FFFFFF"/>
                  </a:solidFill>
                  <a:latin typeface="Poppins"/>
                  <a:ea typeface="Poppins"/>
                  <a:cs typeface="Poppins"/>
                  <a:sym typeface="Poppins"/>
                </a:rPr>
                <a:t>Blouse tops at 171 orders, Pants at 171, and Shirt at 169.</a:t>
              </a:r>
            </a:p>
          </p:txBody>
        </p:sp>
      </p:grpSp>
      <p:grpSp>
        <p:nvGrpSpPr>
          <p:cNvPr name="Group 24" id="24"/>
          <p:cNvGrpSpPr/>
          <p:nvPr/>
        </p:nvGrpSpPr>
        <p:grpSpPr>
          <a:xfrm rot="0">
            <a:off x="1028700" y="8315861"/>
            <a:ext cx="4378886" cy="942439"/>
            <a:chOff x="0" y="0"/>
            <a:chExt cx="5838515" cy="1256586"/>
          </a:xfrm>
        </p:grpSpPr>
        <p:sp>
          <p:nvSpPr>
            <p:cNvPr name="TextBox 25" id="25"/>
            <p:cNvSpPr txBox="true"/>
            <p:nvPr/>
          </p:nvSpPr>
          <p:spPr>
            <a:xfrm rot="0">
              <a:off x="0" y="-209550"/>
              <a:ext cx="5838515" cy="631505"/>
            </a:xfrm>
            <a:prstGeom prst="rect">
              <a:avLst/>
            </a:prstGeom>
          </p:spPr>
          <p:txBody>
            <a:bodyPr anchor="t" rtlCol="false" tIns="0" lIns="0" bIns="0" rIns="0">
              <a:spAutoFit/>
            </a:bodyPr>
            <a:lstStyle/>
            <a:p>
              <a:pPr algn="l" marL="0" indent="0" lvl="0">
                <a:lnSpc>
                  <a:spcPts val="4593"/>
                </a:lnSpc>
              </a:pPr>
              <a:r>
                <a:rPr lang="en-US" b="true" sz="2126">
                  <a:solidFill>
                    <a:srgbClr val="FFFFFF"/>
                  </a:solidFill>
                  <a:latin typeface="Poppins Bold"/>
                  <a:ea typeface="Poppins Bold"/>
                  <a:cs typeface="Poppins Bold"/>
                  <a:sym typeface="Poppins Bold"/>
                </a:rPr>
                <a:t>FOOTWEAR &amp; OUTERWEAR</a:t>
              </a:r>
            </a:p>
          </p:txBody>
        </p:sp>
        <p:sp>
          <p:nvSpPr>
            <p:cNvPr name="TextBox 26" id="26"/>
            <p:cNvSpPr txBox="true"/>
            <p:nvPr/>
          </p:nvSpPr>
          <p:spPr>
            <a:xfrm rot="0">
              <a:off x="0" y="488445"/>
              <a:ext cx="5838515" cy="768141"/>
            </a:xfrm>
            <a:prstGeom prst="rect">
              <a:avLst/>
            </a:prstGeom>
          </p:spPr>
          <p:txBody>
            <a:bodyPr anchor="t" rtlCol="false" tIns="0" lIns="0" bIns="0" rIns="0">
              <a:spAutoFit/>
            </a:bodyPr>
            <a:lstStyle/>
            <a:p>
              <a:pPr algn="just" marL="0" indent="0" lvl="0">
                <a:lnSpc>
                  <a:spcPts val="2207"/>
                </a:lnSpc>
              </a:pPr>
              <a:r>
                <a:rPr lang="en-US" sz="1809">
                  <a:solidFill>
                    <a:srgbClr val="FFFFFF"/>
                  </a:solidFill>
                  <a:latin typeface="Poppins"/>
                  <a:ea typeface="Poppins"/>
                  <a:cs typeface="Poppins"/>
                  <a:sym typeface="Poppins"/>
                </a:rPr>
                <a:t>Sandals (160), Shoes (150), Sneakers (145). Jacket leads outerwear at 163.</a:t>
              </a:r>
            </a:p>
          </p:txBody>
        </p:sp>
      </p:grpSp>
      <p:grpSp>
        <p:nvGrpSpPr>
          <p:cNvPr name="Group 27" id="27"/>
          <p:cNvGrpSpPr/>
          <p:nvPr/>
        </p:nvGrpSpPr>
        <p:grpSpPr>
          <a:xfrm rot="0">
            <a:off x="9345491" y="1359658"/>
            <a:ext cx="7522404" cy="7567644"/>
            <a:chOff x="0" y="0"/>
            <a:chExt cx="10029872" cy="10090192"/>
          </a:xfrm>
        </p:grpSpPr>
        <p:sp>
          <p:nvSpPr>
            <p:cNvPr name="TextBox 28" id="28"/>
            <p:cNvSpPr txBox="true"/>
            <p:nvPr/>
          </p:nvSpPr>
          <p:spPr>
            <a:xfrm rot="0">
              <a:off x="1033544" y="-66675"/>
              <a:ext cx="7126880" cy="523344"/>
            </a:xfrm>
            <a:prstGeom prst="rect">
              <a:avLst/>
            </a:prstGeom>
          </p:spPr>
          <p:txBody>
            <a:bodyPr anchor="t" rtlCol="false" tIns="0" lIns="0" bIns="0" rIns="0">
              <a:spAutoFit/>
            </a:bodyPr>
            <a:lstStyle/>
            <a:p>
              <a:pPr algn="just" marL="0" indent="0" lvl="0">
                <a:lnSpc>
                  <a:spcPts val="3171"/>
                </a:lnSpc>
              </a:pPr>
              <a:r>
                <a:rPr lang="en-US" b="true" sz="2265" spc="-56">
                  <a:gradFill>
                    <a:gsLst>
                      <a:gs pos="0">
                        <a:srgbClr val="FF5757">
                          <a:alpha val="100000"/>
                        </a:srgbClr>
                      </a:gs>
                      <a:gs pos="100000">
                        <a:srgbClr val="8C52FF">
                          <a:alpha val="100000"/>
                        </a:srgbClr>
                      </a:gs>
                    </a:gsLst>
                    <a:lin ang="0"/>
                  </a:gradFill>
                  <a:latin typeface="Poppins Bold"/>
                  <a:ea typeface="Poppins Bold"/>
                  <a:cs typeface="Poppins Bold"/>
                  <a:sym typeface="Poppins Bold"/>
                </a:rPr>
                <a:t>HIGHEST RATED PRODUCTS</a:t>
              </a:r>
            </a:p>
          </p:txBody>
        </p:sp>
        <p:sp>
          <p:nvSpPr>
            <p:cNvPr name="TextBox 29" id="29"/>
            <p:cNvSpPr txBox="true"/>
            <p:nvPr/>
          </p:nvSpPr>
          <p:spPr>
            <a:xfrm rot="0">
              <a:off x="1033544" y="1088036"/>
              <a:ext cx="8996329" cy="1917587"/>
            </a:xfrm>
            <a:prstGeom prst="rect">
              <a:avLst/>
            </a:prstGeom>
          </p:spPr>
          <p:txBody>
            <a:bodyPr anchor="t" rtlCol="false" tIns="0" lIns="0" bIns="0" rIns="0">
              <a:spAutoFit/>
            </a:bodyPr>
            <a:lstStyle/>
            <a:p>
              <a:pPr algn="just" marL="0" indent="0" lvl="0">
                <a:lnSpc>
                  <a:spcPts val="2892"/>
                </a:lnSpc>
              </a:pPr>
              <a:r>
                <a:rPr lang="en-US" sz="2065" spc="-51">
                  <a:solidFill>
                    <a:srgbClr val="3A58E4"/>
                  </a:solidFill>
                  <a:latin typeface="Poppins"/>
                  <a:ea typeface="Poppins"/>
                  <a:cs typeface="Poppins"/>
                  <a:sym typeface="Poppins"/>
                </a:rPr>
                <a:t>Gloves achieve the highest customer rating at 3.86 stars, demonstrating strong customer satisfaction. Quality and fit contribute to positive reviews across this product category.</a:t>
              </a:r>
            </a:p>
          </p:txBody>
        </p:sp>
        <p:sp>
          <p:nvSpPr>
            <p:cNvPr name="TextBox 30" id="30"/>
            <p:cNvSpPr txBox="true"/>
            <p:nvPr/>
          </p:nvSpPr>
          <p:spPr>
            <a:xfrm rot="0">
              <a:off x="1033544" y="3475610"/>
              <a:ext cx="7126880" cy="523344"/>
            </a:xfrm>
            <a:prstGeom prst="rect">
              <a:avLst/>
            </a:prstGeom>
          </p:spPr>
          <p:txBody>
            <a:bodyPr anchor="t" rtlCol="false" tIns="0" lIns="0" bIns="0" rIns="0">
              <a:spAutoFit/>
            </a:bodyPr>
            <a:lstStyle/>
            <a:p>
              <a:pPr algn="just" marL="0" indent="0" lvl="0">
                <a:lnSpc>
                  <a:spcPts val="3171"/>
                </a:lnSpc>
              </a:pPr>
              <a:r>
                <a:rPr lang="en-US" b="true" sz="2265" spc="-56">
                  <a:gradFill>
                    <a:gsLst>
                      <a:gs pos="0">
                        <a:srgbClr val="FF5757">
                          <a:alpha val="100000"/>
                        </a:srgbClr>
                      </a:gs>
                      <a:gs pos="100000">
                        <a:srgbClr val="8C52FF">
                          <a:alpha val="100000"/>
                        </a:srgbClr>
                      </a:gs>
                    </a:gsLst>
                    <a:lin ang="0"/>
                  </a:gradFill>
                  <a:latin typeface="Poppins Bold"/>
                  <a:ea typeface="Poppins Bold"/>
                  <a:cs typeface="Poppins Bold"/>
                  <a:sym typeface="Poppins Bold"/>
                </a:rPr>
                <a:t>SANDALS PERFORMANCE</a:t>
              </a:r>
            </a:p>
          </p:txBody>
        </p:sp>
        <p:sp>
          <p:nvSpPr>
            <p:cNvPr name="TextBox 31" id="31"/>
            <p:cNvSpPr txBox="true"/>
            <p:nvPr/>
          </p:nvSpPr>
          <p:spPr>
            <a:xfrm rot="0">
              <a:off x="1033544" y="4630320"/>
              <a:ext cx="8996329" cy="1917587"/>
            </a:xfrm>
            <a:prstGeom prst="rect">
              <a:avLst/>
            </a:prstGeom>
          </p:spPr>
          <p:txBody>
            <a:bodyPr anchor="t" rtlCol="false" tIns="0" lIns="0" bIns="0" rIns="0">
              <a:spAutoFit/>
            </a:bodyPr>
            <a:lstStyle/>
            <a:p>
              <a:pPr algn="just" marL="0" indent="0" lvl="0">
                <a:lnSpc>
                  <a:spcPts val="2892"/>
                </a:lnSpc>
              </a:pPr>
              <a:r>
                <a:rPr lang="en-US" sz="2065" spc="-51">
                  <a:solidFill>
                    <a:srgbClr val="3A58E4"/>
                  </a:solidFill>
                  <a:latin typeface="Poppins"/>
                  <a:ea typeface="Poppins"/>
                  <a:cs typeface="Poppins"/>
                  <a:sym typeface="Poppins"/>
                </a:rPr>
                <a:t>Sandals rank second with a 3.84 rating and 160 orders, making them a dual performer in both sales volume and customer satisfaction. Consider featuring in marketing campaigns.</a:t>
              </a:r>
            </a:p>
          </p:txBody>
        </p:sp>
        <p:sp>
          <p:nvSpPr>
            <p:cNvPr name="TextBox 32" id="32"/>
            <p:cNvSpPr txBox="true"/>
            <p:nvPr/>
          </p:nvSpPr>
          <p:spPr>
            <a:xfrm rot="0">
              <a:off x="1033544" y="7017894"/>
              <a:ext cx="7126880" cy="523344"/>
            </a:xfrm>
            <a:prstGeom prst="rect">
              <a:avLst/>
            </a:prstGeom>
          </p:spPr>
          <p:txBody>
            <a:bodyPr anchor="t" rtlCol="false" tIns="0" lIns="0" bIns="0" rIns="0">
              <a:spAutoFit/>
            </a:bodyPr>
            <a:lstStyle/>
            <a:p>
              <a:pPr algn="just" marL="0" indent="0" lvl="0">
                <a:lnSpc>
                  <a:spcPts val="3171"/>
                </a:lnSpc>
              </a:pPr>
              <a:r>
                <a:rPr lang="en-US" b="true" sz="2265" spc="-56">
                  <a:gradFill>
                    <a:gsLst>
                      <a:gs pos="0">
                        <a:srgbClr val="FF5757">
                          <a:alpha val="100000"/>
                        </a:srgbClr>
                      </a:gs>
                      <a:gs pos="100000">
                        <a:srgbClr val="8C52FF">
                          <a:alpha val="100000"/>
                        </a:srgbClr>
                      </a:gs>
                    </a:gsLst>
                    <a:lin ang="0"/>
                  </a:gradFill>
                  <a:latin typeface="Poppins Bold"/>
                  <a:ea typeface="Poppins Bold"/>
                  <a:cs typeface="Poppins Bold"/>
                  <a:sym typeface="Poppins Bold"/>
                </a:rPr>
                <a:t>BOOTS RATING</a:t>
              </a:r>
            </a:p>
          </p:txBody>
        </p:sp>
        <p:sp>
          <p:nvSpPr>
            <p:cNvPr name="TextBox 33" id="33"/>
            <p:cNvSpPr txBox="true"/>
            <p:nvPr/>
          </p:nvSpPr>
          <p:spPr>
            <a:xfrm rot="0">
              <a:off x="1033544" y="8172605"/>
              <a:ext cx="8996329" cy="1917587"/>
            </a:xfrm>
            <a:prstGeom prst="rect">
              <a:avLst/>
            </a:prstGeom>
          </p:spPr>
          <p:txBody>
            <a:bodyPr anchor="t" rtlCol="false" tIns="0" lIns="0" bIns="0" rIns="0">
              <a:spAutoFit/>
            </a:bodyPr>
            <a:lstStyle/>
            <a:p>
              <a:pPr algn="just" marL="0" indent="0" lvl="0">
                <a:lnSpc>
                  <a:spcPts val="2892"/>
                </a:lnSpc>
              </a:pPr>
              <a:r>
                <a:rPr lang="en-US" sz="2065" spc="-51">
                  <a:solidFill>
                    <a:srgbClr val="3A58E4"/>
                  </a:solidFill>
                  <a:latin typeface="Poppins"/>
                  <a:ea typeface="Poppins"/>
                  <a:cs typeface="Poppins"/>
                  <a:sym typeface="Poppins"/>
                </a:rPr>
                <a:t>Boots round out the top three rated products at 3.82 stars. Combined with strong footwear category performance, this indicates opportunity for seasonal promotions.</a:t>
              </a:r>
            </a:p>
          </p:txBody>
        </p:sp>
        <p:sp>
          <p:nvSpPr>
            <p:cNvPr name="TextBox 34" id="34"/>
            <p:cNvSpPr txBox="true"/>
            <p:nvPr/>
          </p:nvSpPr>
          <p:spPr>
            <a:xfrm rot="0">
              <a:off x="0" y="1355403"/>
              <a:ext cx="643052" cy="332925"/>
            </a:xfrm>
            <a:prstGeom prst="rect">
              <a:avLst/>
            </a:prstGeom>
          </p:spPr>
          <p:txBody>
            <a:bodyPr anchor="t" rtlCol="false" tIns="0" lIns="0" bIns="0" rIns="0">
              <a:spAutoFit/>
            </a:bodyPr>
            <a:lstStyle/>
            <a:p>
              <a:pPr algn="l" marL="0" indent="0" lvl="0">
                <a:lnSpc>
                  <a:spcPts val="1843"/>
                </a:lnSpc>
              </a:pPr>
              <a:r>
                <a:rPr lang="en-US" sz="1862" spc="-55">
                  <a:solidFill>
                    <a:srgbClr val="3A58E4"/>
                  </a:solidFill>
                  <a:latin typeface="Bricolage Grotesque"/>
                  <a:ea typeface="Bricolage Grotesque"/>
                  <a:cs typeface="Bricolage Grotesque"/>
                  <a:sym typeface="Bricolage Grotesque"/>
                </a:rPr>
                <a:t>01</a:t>
              </a:r>
            </a:p>
          </p:txBody>
        </p:sp>
        <p:sp>
          <p:nvSpPr>
            <p:cNvPr name="TextBox 35" id="35"/>
            <p:cNvSpPr txBox="true"/>
            <p:nvPr/>
          </p:nvSpPr>
          <p:spPr>
            <a:xfrm rot="0">
              <a:off x="0" y="4897687"/>
              <a:ext cx="643052" cy="332925"/>
            </a:xfrm>
            <a:prstGeom prst="rect">
              <a:avLst/>
            </a:prstGeom>
          </p:spPr>
          <p:txBody>
            <a:bodyPr anchor="t" rtlCol="false" tIns="0" lIns="0" bIns="0" rIns="0">
              <a:spAutoFit/>
            </a:bodyPr>
            <a:lstStyle/>
            <a:p>
              <a:pPr algn="l" marL="0" indent="0" lvl="0">
                <a:lnSpc>
                  <a:spcPts val="1843"/>
                </a:lnSpc>
              </a:pPr>
              <a:r>
                <a:rPr lang="en-US" sz="1862" spc="-55">
                  <a:solidFill>
                    <a:srgbClr val="3A58E4"/>
                  </a:solidFill>
                  <a:latin typeface="Bricolage Grotesque"/>
                  <a:ea typeface="Bricolage Grotesque"/>
                  <a:cs typeface="Bricolage Grotesque"/>
                  <a:sym typeface="Bricolage Grotesque"/>
                </a:rPr>
                <a:t>02</a:t>
              </a:r>
            </a:p>
          </p:txBody>
        </p:sp>
        <p:sp>
          <p:nvSpPr>
            <p:cNvPr name="TextBox 36" id="36"/>
            <p:cNvSpPr txBox="true"/>
            <p:nvPr/>
          </p:nvSpPr>
          <p:spPr>
            <a:xfrm rot="0">
              <a:off x="0" y="8439972"/>
              <a:ext cx="643052" cy="332925"/>
            </a:xfrm>
            <a:prstGeom prst="rect">
              <a:avLst/>
            </a:prstGeom>
          </p:spPr>
          <p:txBody>
            <a:bodyPr anchor="t" rtlCol="false" tIns="0" lIns="0" bIns="0" rIns="0">
              <a:spAutoFit/>
            </a:bodyPr>
            <a:lstStyle/>
            <a:p>
              <a:pPr algn="l" marL="0" indent="0" lvl="0">
                <a:lnSpc>
                  <a:spcPts val="1843"/>
                </a:lnSpc>
              </a:pPr>
              <a:r>
                <a:rPr lang="en-US" sz="1862" spc="-55">
                  <a:solidFill>
                    <a:srgbClr val="3A58E4"/>
                  </a:solidFill>
                  <a:latin typeface="Bricolage Grotesque"/>
                  <a:ea typeface="Bricolage Grotesque"/>
                  <a:cs typeface="Bricolage Grotesque"/>
                  <a:sym typeface="Bricolage Grotesque"/>
                </a:rPr>
                <a:t>03</a:t>
              </a:r>
            </a:p>
          </p:txBody>
        </p:sp>
      </p:grpSp>
      <p:sp>
        <p:nvSpPr>
          <p:cNvPr name="TextBox 37" id="37"/>
          <p:cNvSpPr txBox="true"/>
          <p:nvPr/>
        </p:nvSpPr>
        <p:spPr>
          <a:xfrm rot="0">
            <a:off x="1144711" y="1019817"/>
            <a:ext cx="3720798" cy="1382019"/>
          </a:xfrm>
          <a:prstGeom prst="rect">
            <a:avLst/>
          </a:prstGeom>
        </p:spPr>
        <p:txBody>
          <a:bodyPr anchor="t" rtlCol="false" tIns="0" lIns="0" bIns="0" rIns="0">
            <a:spAutoFit/>
          </a:bodyPr>
          <a:lstStyle/>
          <a:p>
            <a:pPr algn="l" marL="0" indent="0" lvl="0">
              <a:lnSpc>
                <a:spcPts val="5298"/>
              </a:lnSpc>
            </a:pPr>
            <a:r>
              <a:rPr lang="en-US" sz="5406" spc="-346">
                <a:solidFill>
                  <a:srgbClr val="FFFFFF"/>
                </a:solidFill>
                <a:latin typeface="Bricolage Grotesque"/>
                <a:ea typeface="Bricolage Grotesque"/>
                <a:cs typeface="Bricolage Grotesque"/>
                <a:sym typeface="Bricolage Grotesque"/>
              </a:rPr>
              <a:t>Product Performance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3A58E4">
                <a:alpha val="100000"/>
              </a:srgbClr>
            </a:gs>
            <a:gs pos="100000">
              <a:srgbClr val="293E9C">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774715" y="0"/>
            <a:ext cx="19062715" cy="10416088"/>
          </a:xfrm>
          <a:custGeom>
            <a:avLst/>
            <a:gdLst/>
            <a:ahLst/>
            <a:cxnLst/>
            <a:rect r="r" b="b" t="t" l="l"/>
            <a:pathLst>
              <a:path h="10416088" w="19062715">
                <a:moveTo>
                  <a:pt x="0" y="0"/>
                </a:moveTo>
                <a:lnTo>
                  <a:pt x="19062715" y="0"/>
                </a:lnTo>
                <a:lnTo>
                  <a:pt x="19062715" y="10416088"/>
                </a:lnTo>
                <a:lnTo>
                  <a:pt x="0" y="10416088"/>
                </a:lnTo>
                <a:lnTo>
                  <a:pt x="0" y="0"/>
                </a:lnTo>
                <a:close/>
              </a:path>
            </a:pathLst>
          </a:custGeom>
          <a:blipFill>
            <a:blip r:embed="rId2"/>
            <a:stretch>
              <a:fillRect l="0" t="-83" r="0" b="-2174"/>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981264" y="1358088"/>
            <a:ext cx="47625" cy="2040668"/>
            <a:chOff x="0" y="0"/>
            <a:chExt cx="12543" cy="537460"/>
          </a:xfrm>
        </p:grpSpPr>
        <p:sp>
          <p:nvSpPr>
            <p:cNvPr name="Freeform 3" id="3"/>
            <p:cNvSpPr/>
            <p:nvPr/>
          </p:nvSpPr>
          <p:spPr>
            <a:xfrm flipH="false" flipV="false" rot="0">
              <a:off x="0" y="0"/>
              <a:ext cx="12543" cy="537460"/>
            </a:xfrm>
            <a:custGeom>
              <a:avLst/>
              <a:gdLst/>
              <a:ahLst/>
              <a:cxnLst/>
              <a:rect r="r" b="b" t="t" l="l"/>
              <a:pathLst>
                <a:path h="537460" w="12543">
                  <a:moveTo>
                    <a:pt x="0" y="0"/>
                  </a:moveTo>
                  <a:lnTo>
                    <a:pt x="12543" y="0"/>
                  </a:lnTo>
                  <a:lnTo>
                    <a:pt x="12543" y="537460"/>
                  </a:lnTo>
                  <a:lnTo>
                    <a:pt x="0" y="537460"/>
                  </a:lnTo>
                  <a:close/>
                </a:path>
              </a:pathLst>
            </a:custGeom>
            <a:solidFill>
              <a:srgbClr val="3A58E4"/>
            </a:solidFill>
          </p:spPr>
        </p:sp>
        <p:sp>
          <p:nvSpPr>
            <p:cNvPr name="TextBox 4" id="4"/>
            <p:cNvSpPr txBox="true"/>
            <p:nvPr/>
          </p:nvSpPr>
          <p:spPr>
            <a:xfrm>
              <a:off x="0" y="-38100"/>
              <a:ext cx="12543" cy="57556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5" id="5"/>
          <p:cNvGrpSpPr/>
          <p:nvPr/>
        </p:nvGrpSpPr>
        <p:grpSpPr>
          <a:xfrm rot="0">
            <a:off x="7828142" y="4449725"/>
            <a:ext cx="9021242" cy="379246"/>
            <a:chOff x="0" y="0"/>
            <a:chExt cx="12028323" cy="505662"/>
          </a:xfrm>
        </p:grpSpPr>
        <p:sp>
          <p:nvSpPr>
            <p:cNvPr name="TextBox 6" id="6"/>
            <p:cNvSpPr txBox="true"/>
            <p:nvPr/>
          </p:nvSpPr>
          <p:spPr>
            <a:xfrm rot="0">
              <a:off x="0" y="56825"/>
              <a:ext cx="11773903" cy="448836"/>
            </a:xfrm>
            <a:prstGeom prst="rect">
              <a:avLst/>
            </a:prstGeom>
          </p:spPr>
          <p:txBody>
            <a:bodyPr anchor="t" rtlCol="false" tIns="0" lIns="0" bIns="0" rIns="0">
              <a:spAutoFit/>
            </a:bodyPr>
            <a:lstStyle/>
            <a:p>
              <a:pPr algn="l" marL="0" indent="0" lvl="0">
                <a:lnSpc>
                  <a:spcPts val="2708"/>
                </a:lnSpc>
              </a:pPr>
              <a:r>
                <a:rPr lang="en-US" b="true" sz="1934" spc="-48">
                  <a:gradFill>
                    <a:gsLst>
                      <a:gs pos="0">
                        <a:srgbClr val="FF5757">
                          <a:alpha val="100000"/>
                        </a:srgbClr>
                      </a:gs>
                      <a:gs pos="100000">
                        <a:srgbClr val="8C52FF">
                          <a:alpha val="100000"/>
                        </a:srgbClr>
                      </a:gs>
                    </a:gsLst>
                    <a:lin ang="0"/>
                  </a:gradFill>
                  <a:latin typeface="Poppins Bold"/>
                  <a:ea typeface="Poppins Bold"/>
                  <a:cs typeface="Poppins Bold"/>
                  <a:sym typeface="Poppins Bold"/>
                </a:rPr>
                <a:t>PRODUCTS WITH HIGH DISCOUNT RELIANCE AND MARGIN CONSIDERATIONS</a:t>
              </a:r>
            </a:p>
          </p:txBody>
        </p:sp>
        <p:sp>
          <p:nvSpPr>
            <p:cNvPr name="Freeform 7" id="7"/>
            <p:cNvSpPr/>
            <p:nvPr/>
          </p:nvSpPr>
          <p:spPr>
            <a:xfrm flipH="false" flipV="false" rot="-8687136">
              <a:off x="11711303" y="44820"/>
              <a:ext cx="252200" cy="304858"/>
            </a:xfrm>
            <a:custGeom>
              <a:avLst/>
              <a:gdLst/>
              <a:ahLst/>
              <a:cxnLst/>
              <a:rect r="r" b="b" t="t" l="l"/>
              <a:pathLst>
                <a:path h="304858" w="252200">
                  <a:moveTo>
                    <a:pt x="0" y="0"/>
                  </a:moveTo>
                  <a:lnTo>
                    <a:pt x="252200" y="0"/>
                  </a:lnTo>
                  <a:lnTo>
                    <a:pt x="252200" y="304857"/>
                  </a:lnTo>
                  <a:lnTo>
                    <a:pt x="0" y="30485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8" id="8"/>
          <p:cNvGrpSpPr/>
          <p:nvPr/>
        </p:nvGrpSpPr>
        <p:grpSpPr>
          <a:xfrm rot="0">
            <a:off x="16438046" y="186093"/>
            <a:ext cx="1849954" cy="1662074"/>
            <a:chOff x="0" y="0"/>
            <a:chExt cx="2466605" cy="2216098"/>
          </a:xfrm>
        </p:grpSpPr>
        <p:grpSp>
          <p:nvGrpSpPr>
            <p:cNvPr name="Group 9" id="9"/>
            <p:cNvGrpSpPr/>
            <p:nvPr/>
          </p:nvGrpSpPr>
          <p:grpSpPr>
            <a:xfrm rot="0">
              <a:off x="0" y="0"/>
              <a:ext cx="2466605" cy="2216098"/>
              <a:chOff x="0" y="0"/>
              <a:chExt cx="787566" cy="707581"/>
            </a:xfrm>
          </p:grpSpPr>
          <p:sp>
            <p:nvSpPr>
              <p:cNvPr name="Freeform 10" id="10"/>
              <p:cNvSpPr/>
              <p:nvPr/>
            </p:nvSpPr>
            <p:spPr>
              <a:xfrm flipH="false" flipV="false" rot="0">
                <a:off x="0" y="0"/>
                <a:ext cx="787566" cy="707581"/>
              </a:xfrm>
              <a:custGeom>
                <a:avLst/>
                <a:gdLst/>
                <a:ahLst/>
                <a:cxnLst/>
                <a:rect r="r" b="b" t="t" l="l"/>
                <a:pathLst>
                  <a:path h="707581" w="787566">
                    <a:moveTo>
                      <a:pt x="0" y="0"/>
                    </a:moveTo>
                    <a:lnTo>
                      <a:pt x="787566" y="0"/>
                    </a:lnTo>
                    <a:lnTo>
                      <a:pt x="787566" y="707581"/>
                    </a:lnTo>
                    <a:lnTo>
                      <a:pt x="0" y="707581"/>
                    </a:ln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p:spPr>
          </p:sp>
          <p:sp>
            <p:nvSpPr>
              <p:cNvPr name="TextBox 11" id="11"/>
              <p:cNvSpPr txBox="true"/>
              <p:nvPr/>
            </p:nvSpPr>
            <p:spPr>
              <a:xfrm>
                <a:off x="0" y="-38100"/>
                <a:ext cx="787566" cy="745681"/>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2" id="12"/>
            <p:cNvSpPr txBox="true"/>
            <p:nvPr/>
          </p:nvSpPr>
          <p:spPr>
            <a:xfrm rot="0">
              <a:off x="319164" y="674999"/>
              <a:ext cx="1828278" cy="970875"/>
            </a:xfrm>
            <a:prstGeom prst="rect">
              <a:avLst/>
            </a:prstGeom>
          </p:spPr>
          <p:txBody>
            <a:bodyPr anchor="t" rtlCol="false" tIns="0" lIns="0" bIns="0" rIns="0">
              <a:spAutoFit/>
            </a:bodyPr>
            <a:lstStyle/>
            <a:p>
              <a:pPr algn="ctr" marL="0" indent="0" lvl="0">
                <a:lnSpc>
                  <a:spcPts val="5244"/>
                </a:lnSpc>
              </a:pPr>
              <a:r>
                <a:rPr lang="en-US" sz="5351" spc="-342">
                  <a:solidFill>
                    <a:srgbClr val="FFFFFF"/>
                  </a:solidFill>
                  <a:latin typeface="Bricolage Grotesque"/>
                  <a:ea typeface="Bricolage Grotesque"/>
                  <a:cs typeface="Bricolage Grotesque"/>
                  <a:sym typeface="Bricolage Grotesque"/>
                </a:rPr>
                <a:t>08</a:t>
              </a:r>
            </a:p>
          </p:txBody>
        </p:sp>
      </p:grpSp>
      <p:sp>
        <p:nvSpPr>
          <p:cNvPr name="AutoShape 13" id="13"/>
          <p:cNvSpPr/>
          <p:nvPr/>
        </p:nvSpPr>
        <p:spPr>
          <a:xfrm flipH="true">
            <a:off x="6542795" y="0"/>
            <a:ext cx="0" cy="10287000"/>
          </a:xfrm>
          <a:prstGeom prst="line">
            <a:avLst/>
          </a:prstGeom>
          <a:ln cap="rnd" w="19050">
            <a:solidFill>
              <a:srgbClr val="3A58E4"/>
            </a:solidFill>
            <a:prstDash val="solid"/>
            <a:headEnd type="none" len="sm" w="sm"/>
            <a:tailEnd type="none" len="sm" w="sm"/>
          </a:ln>
        </p:spPr>
      </p:sp>
      <p:sp>
        <p:nvSpPr>
          <p:cNvPr name="AutoShape 14" id="14"/>
          <p:cNvSpPr/>
          <p:nvPr/>
        </p:nvSpPr>
        <p:spPr>
          <a:xfrm>
            <a:off x="0" y="5320770"/>
            <a:ext cx="6542795" cy="0"/>
          </a:xfrm>
          <a:prstGeom prst="line">
            <a:avLst/>
          </a:prstGeom>
          <a:ln cap="rnd" w="19050">
            <a:solidFill>
              <a:srgbClr val="3A58E4"/>
            </a:solidFill>
            <a:prstDash val="solid"/>
            <a:headEnd type="none" len="sm" w="sm"/>
            <a:tailEnd type="none" len="sm" w="sm"/>
          </a:ln>
        </p:spPr>
      </p:sp>
      <p:grpSp>
        <p:nvGrpSpPr>
          <p:cNvPr name="Group 15" id="15"/>
          <p:cNvGrpSpPr/>
          <p:nvPr/>
        </p:nvGrpSpPr>
        <p:grpSpPr>
          <a:xfrm rot="0">
            <a:off x="-22502" y="29540"/>
            <a:ext cx="6565298" cy="5291230"/>
            <a:chOff x="0" y="0"/>
            <a:chExt cx="955264" cy="769884"/>
          </a:xfrm>
        </p:grpSpPr>
        <p:sp>
          <p:nvSpPr>
            <p:cNvPr name="Freeform 16" id="16"/>
            <p:cNvSpPr/>
            <p:nvPr/>
          </p:nvSpPr>
          <p:spPr>
            <a:xfrm flipH="false" flipV="false" rot="0">
              <a:off x="0" y="0"/>
              <a:ext cx="955264" cy="769884"/>
            </a:xfrm>
            <a:custGeom>
              <a:avLst/>
              <a:gdLst/>
              <a:ahLst/>
              <a:cxnLst/>
              <a:rect r="r" b="b" t="t" l="l"/>
              <a:pathLst>
                <a:path h="769884" w="955264">
                  <a:moveTo>
                    <a:pt x="0" y="0"/>
                  </a:moveTo>
                  <a:lnTo>
                    <a:pt x="955264" y="0"/>
                  </a:lnTo>
                  <a:lnTo>
                    <a:pt x="955264" y="769884"/>
                  </a:lnTo>
                  <a:lnTo>
                    <a:pt x="0" y="769884"/>
                  </a:lnTo>
                  <a:close/>
                </a:path>
              </a:pathLst>
            </a:custGeom>
            <a:blipFill>
              <a:blip r:embed="rId4"/>
              <a:stretch>
                <a:fillRect l="0" t="-174" r="0" b="-174"/>
              </a:stretch>
            </a:blipFill>
          </p:spPr>
        </p:sp>
      </p:grpSp>
      <p:sp>
        <p:nvSpPr>
          <p:cNvPr name="TextBox 17" id="17"/>
          <p:cNvSpPr txBox="true"/>
          <p:nvPr/>
        </p:nvSpPr>
        <p:spPr>
          <a:xfrm rot="0">
            <a:off x="7200339" y="1440021"/>
            <a:ext cx="7107541" cy="2038727"/>
          </a:xfrm>
          <a:prstGeom prst="rect">
            <a:avLst/>
          </a:prstGeom>
        </p:spPr>
        <p:txBody>
          <a:bodyPr anchor="t" rtlCol="false" tIns="0" lIns="0" bIns="0" rIns="0">
            <a:spAutoFit/>
          </a:bodyPr>
          <a:lstStyle/>
          <a:p>
            <a:pPr algn="l" marL="0" indent="0" lvl="0">
              <a:lnSpc>
                <a:spcPts val="7837"/>
              </a:lnSpc>
            </a:pPr>
            <a:r>
              <a:rPr lang="en-US" sz="7996" spc="-511">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Discount</a:t>
            </a:r>
          </a:p>
          <a:p>
            <a:pPr algn="l" marL="0" indent="0" lvl="0">
              <a:lnSpc>
                <a:spcPts val="7837"/>
              </a:lnSpc>
            </a:pPr>
            <a:r>
              <a:rPr lang="en-US" sz="7996" spc="-511">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Dependency</a:t>
            </a:r>
          </a:p>
        </p:txBody>
      </p:sp>
      <p:sp>
        <p:nvSpPr>
          <p:cNvPr name="Freeform 18" id="18"/>
          <p:cNvSpPr/>
          <p:nvPr/>
        </p:nvSpPr>
        <p:spPr>
          <a:xfrm flipH="false" flipV="false" rot="0">
            <a:off x="12645999" y="507733"/>
            <a:ext cx="4028401" cy="3741378"/>
          </a:xfrm>
          <a:custGeom>
            <a:avLst/>
            <a:gdLst/>
            <a:ahLst/>
            <a:cxnLst/>
            <a:rect r="r" b="b" t="t" l="l"/>
            <a:pathLst>
              <a:path h="3741378" w="4028401">
                <a:moveTo>
                  <a:pt x="0" y="0"/>
                </a:moveTo>
                <a:lnTo>
                  <a:pt x="4028401" y="0"/>
                </a:lnTo>
                <a:lnTo>
                  <a:pt x="4028401" y="3741378"/>
                </a:lnTo>
                <a:lnTo>
                  <a:pt x="0" y="3741378"/>
                </a:lnTo>
                <a:lnTo>
                  <a:pt x="0" y="0"/>
                </a:lnTo>
                <a:close/>
              </a:path>
            </a:pathLst>
          </a:custGeom>
          <a:blipFill>
            <a:blip r:embed="rId5"/>
            <a:stretch>
              <a:fillRect l="0" t="0" r="0" b="0"/>
            </a:stretch>
          </a:blipFill>
        </p:spPr>
      </p:sp>
      <p:sp>
        <p:nvSpPr>
          <p:cNvPr name="Freeform 19" id="19"/>
          <p:cNvSpPr/>
          <p:nvPr/>
        </p:nvSpPr>
        <p:spPr>
          <a:xfrm flipH="false" flipV="false" rot="0">
            <a:off x="2694670" y="7311914"/>
            <a:ext cx="1171493" cy="1171493"/>
          </a:xfrm>
          <a:custGeom>
            <a:avLst/>
            <a:gdLst/>
            <a:ahLst/>
            <a:cxnLst/>
            <a:rect r="r" b="b" t="t" l="l"/>
            <a:pathLst>
              <a:path h="1171493" w="1171493">
                <a:moveTo>
                  <a:pt x="0" y="0"/>
                </a:moveTo>
                <a:lnTo>
                  <a:pt x="1171494" y="0"/>
                </a:lnTo>
                <a:lnTo>
                  <a:pt x="1171494" y="1171493"/>
                </a:lnTo>
                <a:lnTo>
                  <a:pt x="0" y="117149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0" id="20"/>
          <p:cNvSpPr txBox="true"/>
          <p:nvPr/>
        </p:nvSpPr>
        <p:spPr>
          <a:xfrm rot="0">
            <a:off x="7698627" y="6315949"/>
            <a:ext cx="9150757" cy="2458775"/>
          </a:xfrm>
          <a:prstGeom prst="rect">
            <a:avLst/>
          </a:prstGeom>
        </p:spPr>
        <p:txBody>
          <a:bodyPr anchor="t" rtlCol="false" tIns="0" lIns="0" bIns="0" rIns="0">
            <a:spAutoFit/>
          </a:bodyPr>
          <a:lstStyle/>
          <a:p>
            <a:pPr algn="just" marL="0" indent="0" lvl="0">
              <a:lnSpc>
                <a:spcPts val="2827"/>
              </a:lnSpc>
            </a:pPr>
            <a:r>
              <a:rPr lang="en-US" sz="2019" spc="-6">
                <a:solidFill>
                  <a:srgbClr val="3A58E4"/>
                </a:solidFill>
                <a:latin typeface="Poppins"/>
                <a:ea typeface="Poppins"/>
                <a:cs typeface="Poppins"/>
                <a:sym typeface="Poppins"/>
              </a:rPr>
              <a:t>Analysis reveals several products with significant discount dependency that may impact profit margins. Sneakers show 49.66% discount rate, followed by Coat at 49.07%, Sweater at 48.17%, and Pants at 47.37%. This pattern suggests a need to review pricing strategies and balance promotional activities with margin preservation. Reducing discount reliance on high-volume items could improve overall profitability while maintaining customer engagement through targeted promotions.</a:t>
            </a:r>
          </a:p>
        </p:txBody>
      </p:sp>
      <p:sp>
        <p:nvSpPr>
          <p:cNvPr name="TextBox 21" id="21"/>
          <p:cNvSpPr txBox="true"/>
          <p:nvPr/>
        </p:nvSpPr>
        <p:spPr>
          <a:xfrm rot="0">
            <a:off x="1736067" y="8435782"/>
            <a:ext cx="3088700" cy="630260"/>
          </a:xfrm>
          <a:prstGeom prst="rect">
            <a:avLst/>
          </a:prstGeom>
        </p:spPr>
        <p:txBody>
          <a:bodyPr anchor="t" rtlCol="false" tIns="0" lIns="0" bIns="0" rIns="0">
            <a:spAutoFit/>
          </a:bodyPr>
          <a:lstStyle/>
          <a:p>
            <a:pPr algn="ctr" marL="0" indent="0" lvl="0">
              <a:lnSpc>
                <a:spcPts val="2536"/>
              </a:lnSpc>
            </a:pPr>
            <a:r>
              <a:rPr lang="en-US" sz="1811" spc="-5">
                <a:solidFill>
                  <a:srgbClr val="3A58E4"/>
                </a:solidFill>
                <a:latin typeface="Poppins"/>
                <a:ea typeface="Poppins"/>
                <a:cs typeface="Poppins"/>
                <a:sym typeface="Poppins"/>
              </a:rPr>
              <a:t>Hat leads discount reliance</a:t>
            </a:r>
          </a:p>
        </p:txBody>
      </p:sp>
      <p:sp>
        <p:nvSpPr>
          <p:cNvPr name="TextBox 22" id="22"/>
          <p:cNvSpPr txBox="true"/>
          <p:nvPr/>
        </p:nvSpPr>
        <p:spPr>
          <a:xfrm rot="0">
            <a:off x="722135" y="5645802"/>
            <a:ext cx="5116565" cy="2098893"/>
          </a:xfrm>
          <a:prstGeom prst="rect">
            <a:avLst/>
          </a:prstGeom>
        </p:spPr>
        <p:txBody>
          <a:bodyPr anchor="t" rtlCol="false" tIns="0" lIns="0" bIns="0" rIns="0">
            <a:spAutoFit/>
          </a:bodyPr>
          <a:lstStyle/>
          <a:p>
            <a:pPr algn="ctr" marL="0" indent="0" lvl="0">
              <a:lnSpc>
                <a:spcPts val="17137"/>
              </a:lnSpc>
              <a:spcBef>
                <a:spcPct val="0"/>
              </a:spcBef>
            </a:pPr>
            <a:r>
              <a:rPr lang="en-US" sz="12241" spc="-783">
                <a:gradFill>
                  <a:gsLst>
                    <a:gs pos="0">
                      <a:srgbClr val="3A58E4">
                        <a:alpha val="100000"/>
                      </a:srgbClr>
                    </a:gs>
                    <a:gs pos="100000">
                      <a:srgbClr val="293E9C">
                        <a:alpha val="100000"/>
                      </a:srgbClr>
                    </a:gs>
                  </a:gsLst>
                  <a:path path="circle">
                    <a:fillToRect l="0" r="100000" t="0" b="100000"/>
                  </a:path>
                  <a:tileRect r="0" l="-100000" b="0" t="-100000"/>
                </a:gradFill>
                <a:latin typeface="Bricolage Grotesque"/>
                <a:ea typeface="Bricolage Grotesque"/>
                <a:cs typeface="Bricolage Grotesque"/>
                <a:sym typeface="Bricolage Grotesque"/>
              </a:rPr>
              <a:t>50%</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1525863"/>
            <a:ext cx="47625" cy="2040668"/>
            <a:chOff x="0" y="0"/>
            <a:chExt cx="12543" cy="537460"/>
          </a:xfrm>
        </p:grpSpPr>
        <p:sp>
          <p:nvSpPr>
            <p:cNvPr name="Freeform 3" id="3"/>
            <p:cNvSpPr/>
            <p:nvPr/>
          </p:nvSpPr>
          <p:spPr>
            <a:xfrm flipH="false" flipV="false" rot="0">
              <a:off x="0" y="0"/>
              <a:ext cx="12543" cy="537460"/>
            </a:xfrm>
            <a:custGeom>
              <a:avLst/>
              <a:gdLst/>
              <a:ahLst/>
              <a:cxnLst/>
              <a:rect r="r" b="b" t="t" l="l"/>
              <a:pathLst>
                <a:path h="537460" w="12543">
                  <a:moveTo>
                    <a:pt x="0" y="0"/>
                  </a:moveTo>
                  <a:lnTo>
                    <a:pt x="12543" y="0"/>
                  </a:lnTo>
                  <a:lnTo>
                    <a:pt x="12543" y="537460"/>
                  </a:lnTo>
                  <a:lnTo>
                    <a:pt x="0" y="537460"/>
                  </a:lnTo>
                  <a:close/>
                </a:path>
              </a:pathLst>
            </a:custGeom>
            <a:solidFill>
              <a:srgbClr val="3A58E4"/>
            </a:solidFill>
          </p:spPr>
        </p:sp>
        <p:sp>
          <p:nvSpPr>
            <p:cNvPr name="TextBox 4" id="4"/>
            <p:cNvSpPr txBox="true"/>
            <p:nvPr/>
          </p:nvSpPr>
          <p:spPr>
            <a:xfrm>
              <a:off x="0" y="-38100"/>
              <a:ext cx="12543" cy="57556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5" id="5"/>
          <p:cNvSpPr txBox="true"/>
          <p:nvPr/>
        </p:nvSpPr>
        <p:spPr>
          <a:xfrm rot="0">
            <a:off x="1028700" y="4191922"/>
            <a:ext cx="7514069" cy="854234"/>
          </a:xfrm>
          <a:prstGeom prst="rect">
            <a:avLst/>
          </a:prstGeom>
        </p:spPr>
        <p:txBody>
          <a:bodyPr anchor="t" rtlCol="false" tIns="0" lIns="0" bIns="0" rIns="0">
            <a:spAutoFit/>
          </a:bodyPr>
          <a:lstStyle/>
          <a:p>
            <a:pPr algn="just" marL="0" indent="0" lvl="0">
              <a:lnSpc>
                <a:spcPts val="3316"/>
              </a:lnSpc>
            </a:pPr>
            <a:r>
              <a:rPr lang="en-US" b="true" sz="2368" spc="-59">
                <a:gradFill>
                  <a:gsLst>
                    <a:gs pos="0">
                      <a:srgbClr val="FF5757">
                        <a:alpha val="100000"/>
                      </a:srgbClr>
                    </a:gs>
                    <a:gs pos="100000">
                      <a:srgbClr val="8C52FF">
                        <a:alpha val="100000"/>
                      </a:srgbClr>
                    </a:gs>
                  </a:gsLst>
                  <a:lin ang="0"/>
                </a:gradFill>
                <a:latin typeface="Poppins Bold"/>
                <a:ea typeface="Poppins Bold"/>
                <a:cs typeface="Poppins Bold"/>
                <a:sym typeface="Poppins Bold"/>
              </a:rPr>
              <a:t>HOW SALES VARY ACROSS SEASONS TO OPTIMIZE INVENTORY AND MARKETING TIMING</a:t>
            </a:r>
          </a:p>
        </p:txBody>
      </p:sp>
      <p:grpSp>
        <p:nvGrpSpPr>
          <p:cNvPr name="Group 6" id="6"/>
          <p:cNvGrpSpPr/>
          <p:nvPr/>
        </p:nvGrpSpPr>
        <p:grpSpPr>
          <a:xfrm rot="0">
            <a:off x="6692815" y="129"/>
            <a:ext cx="1849954" cy="1848037"/>
            <a:chOff x="0" y="0"/>
            <a:chExt cx="2466605" cy="2464050"/>
          </a:xfrm>
        </p:grpSpPr>
        <p:grpSp>
          <p:nvGrpSpPr>
            <p:cNvPr name="Group 7" id="7"/>
            <p:cNvGrpSpPr/>
            <p:nvPr/>
          </p:nvGrpSpPr>
          <p:grpSpPr>
            <a:xfrm rot="0">
              <a:off x="0" y="0"/>
              <a:ext cx="2466605" cy="2464050"/>
              <a:chOff x="0" y="0"/>
              <a:chExt cx="787566" cy="786750"/>
            </a:xfrm>
          </p:grpSpPr>
          <p:sp>
            <p:nvSpPr>
              <p:cNvPr name="Freeform 8" id="8"/>
              <p:cNvSpPr/>
              <p:nvPr/>
            </p:nvSpPr>
            <p:spPr>
              <a:xfrm flipH="false" flipV="false" rot="0">
                <a:off x="0" y="0"/>
                <a:ext cx="787566" cy="786750"/>
              </a:xfrm>
              <a:custGeom>
                <a:avLst/>
                <a:gdLst/>
                <a:ahLst/>
                <a:cxnLst/>
                <a:rect r="r" b="b" t="t" l="l"/>
                <a:pathLst>
                  <a:path h="786750" w="787566">
                    <a:moveTo>
                      <a:pt x="0" y="0"/>
                    </a:moveTo>
                    <a:lnTo>
                      <a:pt x="787566" y="0"/>
                    </a:lnTo>
                    <a:lnTo>
                      <a:pt x="787566" y="786750"/>
                    </a:lnTo>
                    <a:lnTo>
                      <a:pt x="0" y="786750"/>
                    </a:ln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p:spPr>
          </p:sp>
          <p:sp>
            <p:nvSpPr>
              <p:cNvPr name="TextBox 9" id="9"/>
              <p:cNvSpPr txBox="true"/>
              <p:nvPr/>
            </p:nvSpPr>
            <p:spPr>
              <a:xfrm>
                <a:off x="0" y="-38100"/>
                <a:ext cx="787566" cy="82485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0" id="10"/>
            <p:cNvSpPr txBox="true"/>
            <p:nvPr/>
          </p:nvSpPr>
          <p:spPr>
            <a:xfrm rot="0">
              <a:off x="319164" y="694049"/>
              <a:ext cx="1828278" cy="1199777"/>
            </a:xfrm>
            <a:prstGeom prst="rect">
              <a:avLst/>
            </a:prstGeom>
          </p:spPr>
          <p:txBody>
            <a:bodyPr anchor="t" rtlCol="false" tIns="0" lIns="0" bIns="0" rIns="0">
              <a:spAutoFit/>
            </a:bodyPr>
            <a:lstStyle/>
            <a:p>
              <a:pPr algn="ctr" marL="0" indent="0" lvl="0">
                <a:lnSpc>
                  <a:spcPts val="6421"/>
                </a:lnSpc>
              </a:pPr>
              <a:r>
                <a:rPr lang="en-US" sz="6552" spc="-419">
                  <a:solidFill>
                    <a:srgbClr val="FFFFFF"/>
                  </a:solidFill>
                  <a:latin typeface="Bricolage Grotesque"/>
                  <a:ea typeface="Bricolage Grotesque"/>
                  <a:cs typeface="Bricolage Grotesque"/>
                  <a:sym typeface="Bricolage Grotesque"/>
                </a:rPr>
                <a:t>09</a:t>
              </a:r>
            </a:p>
          </p:txBody>
        </p:sp>
      </p:grpSp>
      <p:grpSp>
        <p:nvGrpSpPr>
          <p:cNvPr name="Group 11" id="11"/>
          <p:cNvGrpSpPr/>
          <p:nvPr/>
        </p:nvGrpSpPr>
        <p:grpSpPr>
          <a:xfrm rot="0">
            <a:off x="10630940" y="0"/>
            <a:ext cx="7451928" cy="10287000"/>
            <a:chOff x="0" y="0"/>
            <a:chExt cx="9935904" cy="13716000"/>
          </a:xfrm>
        </p:grpSpPr>
        <p:pic>
          <p:nvPicPr>
            <p:cNvPr name="Picture 12" id="12"/>
            <p:cNvPicPr>
              <a:picLocks noChangeAspect="true"/>
            </p:cNvPicPr>
            <p:nvPr/>
          </p:nvPicPr>
          <p:blipFill>
            <a:blip r:embed="rId2"/>
            <a:stretch>
              <a:fillRect/>
            </a:stretch>
          </p:blipFill>
          <p:spPr>
            <a:xfrm rot="0">
              <a:off x="190529" y="381174"/>
              <a:ext cx="9554846" cy="12953651"/>
            </a:xfrm>
            <a:prstGeom prst="rect">
              <a:avLst/>
            </a:prstGeom>
          </p:spPr>
        </p:pic>
        <p:sp>
          <p:nvSpPr>
            <p:cNvPr name="AutoShape 13" id="13"/>
            <p:cNvSpPr/>
            <p:nvPr/>
          </p:nvSpPr>
          <p:spPr>
            <a:xfrm>
              <a:off x="9923204" y="0"/>
              <a:ext cx="0" cy="13716000"/>
            </a:xfrm>
            <a:prstGeom prst="line">
              <a:avLst/>
            </a:prstGeom>
            <a:ln cap="rnd" w="25400">
              <a:solidFill>
                <a:srgbClr val="3A58E4"/>
              </a:solidFill>
              <a:prstDash val="solid"/>
              <a:headEnd type="none" len="sm" w="sm"/>
              <a:tailEnd type="none" len="sm" w="sm"/>
            </a:ln>
          </p:spPr>
        </p:sp>
      </p:grpSp>
      <p:sp>
        <p:nvSpPr>
          <p:cNvPr name="Freeform 14" id="14"/>
          <p:cNvSpPr/>
          <p:nvPr/>
        </p:nvSpPr>
        <p:spPr>
          <a:xfrm flipH="false" flipV="false" rot="0">
            <a:off x="9455662" y="7848788"/>
            <a:ext cx="2479908" cy="482455"/>
          </a:xfrm>
          <a:custGeom>
            <a:avLst/>
            <a:gdLst/>
            <a:ahLst/>
            <a:cxnLst/>
            <a:rect r="r" b="b" t="t" l="l"/>
            <a:pathLst>
              <a:path h="482455" w="2479908">
                <a:moveTo>
                  <a:pt x="0" y="0"/>
                </a:moveTo>
                <a:lnTo>
                  <a:pt x="2479908" y="0"/>
                </a:lnTo>
                <a:lnTo>
                  <a:pt x="2479908" y="482455"/>
                </a:lnTo>
                <a:lnTo>
                  <a:pt x="0" y="482455"/>
                </a:lnTo>
                <a:lnTo>
                  <a:pt x="0" y="0"/>
                </a:lnTo>
                <a:close/>
              </a:path>
            </a:pathLst>
          </a:custGeom>
          <a:blipFill>
            <a:blip r:embed="rId3"/>
            <a:stretch>
              <a:fillRect l="0" t="0" r="0" b="0"/>
            </a:stretch>
          </a:blipFill>
        </p:spPr>
      </p:sp>
      <p:grpSp>
        <p:nvGrpSpPr>
          <p:cNvPr name="Group 15" id="15"/>
          <p:cNvGrpSpPr/>
          <p:nvPr/>
        </p:nvGrpSpPr>
        <p:grpSpPr>
          <a:xfrm rot="0">
            <a:off x="9560394" y="5822415"/>
            <a:ext cx="2270445" cy="2267600"/>
            <a:chOff x="0" y="0"/>
            <a:chExt cx="567580" cy="566868"/>
          </a:xfrm>
        </p:grpSpPr>
        <p:sp>
          <p:nvSpPr>
            <p:cNvPr name="Freeform 16" id="16"/>
            <p:cNvSpPr/>
            <p:nvPr/>
          </p:nvSpPr>
          <p:spPr>
            <a:xfrm flipH="false" flipV="false" rot="0">
              <a:off x="0" y="0"/>
              <a:ext cx="567580" cy="566868"/>
            </a:xfrm>
            <a:custGeom>
              <a:avLst/>
              <a:gdLst/>
              <a:ahLst/>
              <a:cxnLst/>
              <a:rect r="r" b="b" t="t" l="l"/>
              <a:pathLst>
                <a:path h="566868" w="567580">
                  <a:moveTo>
                    <a:pt x="153444" y="0"/>
                  </a:moveTo>
                  <a:lnTo>
                    <a:pt x="414136" y="0"/>
                  </a:lnTo>
                  <a:cubicBezTo>
                    <a:pt x="498880" y="0"/>
                    <a:pt x="567580" y="68699"/>
                    <a:pt x="567580" y="153444"/>
                  </a:cubicBezTo>
                  <a:lnTo>
                    <a:pt x="567580" y="413424"/>
                  </a:lnTo>
                  <a:cubicBezTo>
                    <a:pt x="567580" y="454120"/>
                    <a:pt x="551413" y="493149"/>
                    <a:pt x="522637" y="521926"/>
                  </a:cubicBezTo>
                  <a:cubicBezTo>
                    <a:pt x="493861" y="550702"/>
                    <a:pt x="454831" y="566868"/>
                    <a:pt x="414136" y="566868"/>
                  </a:cubicBezTo>
                  <a:lnTo>
                    <a:pt x="153444" y="566868"/>
                  </a:lnTo>
                  <a:cubicBezTo>
                    <a:pt x="112748" y="566868"/>
                    <a:pt x="73719" y="550702"/>
                    <a:pt x="44943" y="521926"/>
                  </a:cubicBezTo>
                  <a:cubicBezTo>
                    <a:pt x="16166" y="493149"/>
                    <a:pt x="0" y="454120"/>
                    <a:pt x="0" y="413424"/>
                  </a:cubicBezTo>
                  <a:lnTo>
                    <a:pt x="0" y="153444"/>
                  </a:lnTo>
                  <a:cubicBezTo>
                    <a:pt x="0" y="112748"/>
                    <a:pt x="16166" y="73719"/>
                    <a:pt x="44943" y="44943"/>
                  </a:cubicBezTo>
                  <a:cubicBezTo>
                    <a:pt x="73719" y="16166"/>
                    <a:pt x="112748" y="0"/>
                    <a:pt x="153444" y="0"/>
                  </a:cubicBezTo>
                  <a:close/>
                </a:path>
              </a:pathLst>
            </a:custGeom>
            <a:gradFill rotWithShape="true">
              <a:gsLst>
                <a:gs pos="0">
                  <a:srgbClr val="FF5757">
                    <a:alpha val="100000"/>
                  </a:srgbClr>
                </a:gs>
                <a:gs pos="100000">
                  <a:srgbClr val="8C52FF">
                    <a:alpha val="100000"/>
                  </a:srgbClr>
                </a:gs>
              </a:gsLst>
              <a:lin ang="0"/>
            </a:gradFill>
            <a:ln cap="rnd">
              <a:noFill/>
              <a:prstDash val="solid"/>
              <a:round/>
            </a:ln>
          </p:spPr>
        </p:sp>
        <p:sp>
          <p:nvSpPr>
            <p:cNvPr name="TextBox 17" id="17"/>
            <p:cNvSpPr txBox="true"/>
            <p:nvPr/>
          </p:nvSpPr>
          <p:spPr>
            <a:xfrm>
              <a:off x="0" y="28575"/>
              <a:ext cx="567580" cy="538293"/>
            </a:xfrm>
            <a:prstGeom prst="rect">
              <a:avLst/>
            </a:prstGeom>
          </p:spPr>
          <p:txBody>
            <a:bodyPr anchor="ctr" rtlCol="false" tIns="51111" lIns="51111" bIns="51111" rIns="51111"/>
            <a:lstStyle/>
            <a:p>
              <a:pPr algn="ctr" marL="0" indent="0" lvl="0">
                <a:lnSpc>
                  <a:spcPts val="2460"/>
                </a:lnSpc>
              </a:pPr>
            </a:p>
          </p:txBody>
        </p:sp>
      </p:grpSp>
      <p:sp>
        <p:nvSpPr>
          <p:cNvPr name="Freeform 18" id="18"/>
          <p:cNvSpPr/>
          <p:nvPr/>
        </p:nvSpPr>
        <p:spPr>
          <a:xfrm flipH="false" flipV="false" rot="0">
            <a:off x="9144000" y="3398768"/>
            <a:ext cx="2839904" cy="2065385"/>
          </a:xfrm>
          <a:custGeom>
            <a:avLst/>
            <a:gdLst/>
            <a:ahLst/>
            <a:cxnLst/>
            <a:rect r="r" b="b" t="t" l="l"/>
            <a:pathLst>
              <a:path h="2065385" w="2839904">
                <a:moveTo>
                  <a:pt x="0" y="0"/>
                </a:moveTo>
                <a:lnTo>
                  <a:pt x="2839904" y="0"/>
                </a:lnTo>
                <a:lnTo>
                  <a:pt x="2839904" y="2065385"/>
                </a:lnTo>
                <a:lnTo>
                  <a:pt x="0" y="206538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9" id="19"/>
          <p:cNvSpPr txBox="true"/>
          <p:nvPr/>
        </p:nvSpPr>
        <p:spPr>
          <a:xfrm rot="0">
            <a:off x="1256766" y="1650909"/>
            <a:ext cx="5780387" cy="2245010"/>
          </a:xfrm>
          <a:prstGeom prst="rect">
            <a:avLst/>
          </a:prstGeom>
        </p:spPr>
        <p:txBody>
          <a:bodyPr anchor="t" rtlCol="false" tIns="0" lIns="0" bIns="0" rIns="0">
            <a:spAutoFit/>
          </a:bodyPr>
          <a:lstStyle/>
          <a:p>
            <a:pPr algn="l" marL="0" indent="0" lvl="0">
              <a:lnSpc>
                <a:spcPts val="8591"/>
              </a:lnSpc>
            </a:pPr>
            <a:r>
              <a:rPr lang="en-US" sz="8766" spc="-561">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Seasonal Sales Trends</a:t>
            </a:r>
          </a:p>
        </p:txBody>
      </p:sp>
      <p:sp>
        <p:nvSpPr>
          <p:cNvPr name="TextBox 20" id="20"/>
          <p:cNvSpPr txBox="true"/>
          <p:nvPr/>
        </p:nvSpPr>
        <p:spPr>
          <a:xfrm rot="0">
            <a:off x="1028700" y="5613189"/>
            <a:ext cx="7514069" cy="3262782"/>
          </a:xfrm>
          <a:prstGeom prst="rect">
            <a:avLst/>
          </a:prstGeom>
        </p:spPr>
        <p:txBody>
          <a:bodyPr anchor="t" rtlCol="false" tIns="0" lIns="0" bIns="0" rIns="0">
            <a:spAutoFit/>
          </a:bodyPr>
          <a:lstStyle/>
          <a:p>
            <a:pPr algn="just" marL="0" indent="0" lvl="0">
              <a:lnSpc>
                <a:spcPts val="2861"/>
              </a:lnSpc>
            </a:pPr>
            <a:r>
              <a:rPr lang="en-US" sz="2044" spc="-6">
                <a:solidFill>
                  <a:srgbClr val="3A58E4"/>
                </a:solidFill>
                <a:latin typeface="Poppins"/>
                <a:ea typeface="Poppins"/>
                <a:cs typeface="Poppins"/>
                <a:sym typeface="Poppins"/>
              </a:rPr>
              <a:t>Analysis reveals distinct seasonal purchasing patterns across product categories. Accessories and Outerwear peak during Fall, suggesting increased demand for cold-weather preparations and holiday shopping. Clothing and Footwear show strongest performance in Spring, indicating seasonal wardrobe refreshes. These insights enable strategic inventory planning, targeted promotional campaigns, and optimized stock allocation to maximize revenue during peak demand periods for each category.</a:t>
            </a:r>
          </a:p>
        </p:txBody>
      </p:sp>
      <p:sp>
        <p:nvSpPr>
          <p:cNvPr name="TextBox 21" id="21"/>
          <p:cNvSpPr txBox="true"/>
          <p:nvPr/>
        </p:nvSpPr>
        <p:spPr>
          <a:xfrm rot="0">
            <a:off x="9904370" y="6340300"/>
            <a:ext cx="1582493" cy="516979"/>
          </a:xfrm>
          <a:prstGeom prst="rect">
            <a:avLst/>
          </a:prstGeom>
        </p:spPr>
        <p:txBody>
          <a:bodyPr anchor="t" rtlCol="false" tIns="0" lIns="0" bIns="0" rIns="0">
            <a:spAutoFit/>
          </a:bodyPr>
          <a:lstStyle/>
          <a:p>
            <a:pPr algn="ctr" marL="0" indent="0" lvl="0">
              <a:lnSpc>
                <a:spcPts val="3876"/>
              </a:lnSpc>
            </a:pPr>
            <a:r>
              <a:rPr lang="en-US" b="true" sz="3915" spc="-117">
                <a:solidFill>
                  <a:srgbClr val="FFFFFF"/>
                </a:solidFill>
                <a:latin typeface="Bricolage Grotesque Bold"/>
                <a:ea typeface="Bricolage Grotesque Bold"/>
                <a:cs typeface="Bricolage Grotesque Bold"/>
                <a:sym typeface="Bricolage Grotesque Bold"/>
              </a:rPr>
              <a:t>4</a:t>
            </a:r>
          </a:p>
        </p:txBody>
      </p:sp>
      <p:sp>
        <p:nvSpPr>
          <p:cNvPr name="TextBox 22" id="22"/>
          <p:cNvSpPr txBox="true"/>
          <p:nvPr/>
        </p:nvSpPr>
        <p:spPr>
          <a:xfrm rot="0">
            <a:off x="10056286" y="6904782"/>
            <a:ext cx="1278661" cy="754775"/>
          </a:xfrm>
          <a:prstGeom prst="rect">
            <a:avLst/>
          </a:prstGeom>
        </p:spPr>
        <p:txBody>
          <a:bodyPr anchor="t" rtlCol="false" tIns="0" lIns="0" bIns="0" rIns="0">
            <a:spAutoFit/>
          </a:bodyPr>
          <a:lstStyle/>
          <a:p>
            <a:pPr algn="ctr" marL="0" indent="0" lvl="0">
              <a:lnSpc>
                <a:spcPts val="2040"/>
              </a:lnSpc>
            </a:pPr>
            <a:r>
              <a:rPr lang="en-US" sz="1457" spc="-36">
                <a:solidFill>
                  <a:srgbClr val="FFFFFF"/>
                </a:solidFill>
                <a:latin typeface="Poppins"/>
                <a:ea typeface="Poppins"/>
                <a:cs typeface="Poppins"/>
                <a:sym typeface="Poppins"/>
              </a:rPr>
              <a:t>SEASONAL PEAKS IDENTIFIED</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438046" y="290997"/>
            <a:ext cx="1849954" cy="1557169"/>
            <a:chOff x="0" y="0"/>
            <a:chExt cx="2466605" cy="2076226"/>
          </a:xfrm>
        </p:grpSpPr>
        <p:grpSp>
          <p:nvGrpSpPr>
            <p:cNvPr name="Group 3" id="3"/>
            <p:cNvGrpSpPr/>
            <p:nvPr/>
          </p:nvGrpSpPr>
          <p:grpSpPr>
            <a:xfrm rot="0">
              <a:off x="0" y="0"/>
              <a:ext cx="2466605" cy="2076226"/>
              <a:chOff x="0" y="0"/>
              <a:chExt cx="787566" cy="662921"/>
            </a:xfrm>
          </p:grpSpPr>
          <p:sp>
            <p:nvSpPr>
              <p:cNvPr name="Freeform 4" id="4"/>
              <p:cNvSpPr/>
              <p:nvPr/>
            </p:nvSpPr>
            <p:spPr>
              <a:xfrm flipH="false" flipV="false" rot="0">
                <a:off x="0" y="0"/>
                <a:ext cx="787566" cy="662921"/>
              </a:xfrm>
              <a:custGeom>
                <a:avLst/>
                <a:gdLst/>
                <a:ahLst/>
                <a:cxnLst/>
                <a:rect r="r" b="b" t="t" l="l"/>
                <a:pathLst>
                  <a:path h="662921" w="787566">
                    <a:moveTo>
                      <a:pt x="0" y="0"/>
                    </a:moveTo>
                    <a:lnTo>
                      <a:pt x="787566" y="0"/>
                    </a:lnTo>
                    <a:lnTo>
                      <a:pt x="787566" y="662921"/>
                    </a:lnTo>
                    <a:lnTo>
                      <a:pt x="0" y="662921"/>
                    </a:ln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p:spPr>
          </p:sp>
          <p:sp>
            <p:nvSpPr>
              <p:cNvPr name="TextBox 5" id="5"/>
              <p:cNvSpPr txBox="true"/>
              <p:nvPr/>
            </p:nvSpPr>
            <p:spPr>
              <a:xfrm>
                <a:off x="0" y="-38100"/>
                <a:ext cx="787566" cy="701021"/>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6" id="6"/>
            <p:cNvSpPr txBox="true"/>
            <p:nvPr/>
          </p:nvSpPr>
          <p:spPr>
            <a:xfrm rot="0">
              <a:off x="319164" y="665474"/>
              <a:ext cx="1828278" cy="840528"/>
            </a:xfrm>
            <a:prstGeom prst="rect">
              <a:avLst/>
            </a:prstGeom>
          </p:spPr>
          <p:txBody>
            <a:bodyPr anchor="t" rtlCol="false" tIns="0" lIns="0" bIns="0" rIns="0">
              <a:spAutoFit/>
            </a:bodyPr>
            <a:lstStyle/>
            <a:p>
              <a:pPr algn="ctr" marL="0" indent="0" lvl="0">
                <a:lnSpc>
                  <a:spcPts val="4571"/>
                </a:lnSpc>
              </a:pPr>
              <a:r>
                <a:rPr lang="en-US" sz="4664" spc="-298">
                  <a:solidFill>
                    <a:srgbClr val="FFFFFF"/>
                  </a:solidFill>
                  <a:latin typeface="Bricolage Grotesque"/>
                  <a:ea typeface="Bricolage Grotesque"/>
                  <a:cs typeface="Bricolage Grotesque"/>
                  <a:sym typeface="Bricolage Grotesque"/>
                </a:rPr>
                <a:t>10</a:t>
              </a:r>
            </a:p>
          </p:txBody>
        </p:sp>
      </p:grpSp>
      <p:grpSp>
        <p:nvGrpSpPr>
          <p:cNvPr name="Group 7" id="7"/>
          <p:cNvGrpSpPr/>
          <p:nvPr/>
        </p:nvGrpSpPr>
        <p:grpSpPr>
          <a:xfrm rot="0">
            <a:off x="9144000" y="1783947"/>
            <a:ext cx="40440" cy="1732806"/>
            <a:chOff x="0" y="0"/>
            <a:chExt cx="12543" cy="537460"/>
          </a:xfrm>
        </p:grpSpPr>
        <p:sp>
          <p:nvSpPr>
            <p:cNvPr name="Freeform 8" id="8"/>
            <p:cNvSpPr/>
            <p:nvPr/>
          </p:nvSpPr>
          <p:spPr>
            <a:xfrm flipH="false" flipV="false" rot="0">
              <a:off x="0" y="0"/>
              <a:ext cx="12543" cy="537460"/>
            </a:xfrm>
            <a:custGeom>
              <a:avLst/>
              <a:gdLst/>
              <a:ahLst/>
              <a:cxnLst/>
              <a:rect r="r" b="b" t="t" l="l"/>
              <a:pathLst>
                <a:path h="537460" w="12543">
                  <a:moveTo>
                    <a:pt x="0" y="0"/>
                  </a:moveTo>
                  <a:lnTo>
                    <a:pt x="12543" y="0"/>
                  </a:lnTo>
                  <a:lnTo>
                    <a:pt x="12543" y="537460"/>
                  </a:lnTo>
                  <a:lnTo>
                    <a:pt x="0" y="537460"/>
                  </a:lnTo>
                  <a:close/>
                </a:path>
              </a:pathLst>
            </a:custGeom>
            <a:solidFill>
              <a:srgbClr val="3A58E4"/>
            </a:solidFill>
          </p:spPr>
        </p:sp>
        <p:sp>
          <p:nvSpPr>
            <p:cNvPr name="TextBox 9" id="9"/>
            <p:cNvSpPr txBox="true"/>
            <p:nvPr/>
          </p:nvSpPr>
          <p:spPr>
            <a:xfrm>
              <a:off x="0" y="-38100"/>
              <a:ext cx="12543" cy="57556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0" id="10"/>
          <p:cNvGrpSpPr/>
          <p:nvPr/>
        </p:nvGrpSpPr>
        <p:grpSpPr>
          <a:xfrm rot="0">
            <a:off x="9144000" y="4139657"/>
            <a:ext cx="6563388" cy="530050"/>
            <a:chOff x="0" y="0"/>
            <a:chExt cx="8751183" cy="706733"/>
          </a:xfrm>
        </p:grpSpPr>
        <p:sp>
          <p:nvSpPr>
            <p:cNvPr name="TextBox 11" id="11"/>
            <p:cNvSpPr txBox="true"/>
            <p:nvPr/>
          </p:nvSpPr>
          <p:spPr>
            <a:xfrm rot="0">
              <a:off x="0" y="-38100"/>
              <a:ext cx="8507297" cy="744833"/>
            </a:xfrm>
            <a:prstGeom prst="rect">
              <a:avLst/>
            </a:prstGeom>
          </p:spPr>
          <p:txBody>
            <a:bodyPr anchor="t" rtlCol="false" tIns="0" lIns="0" bIns="0" rIns="0">
              <a:spAutoFit/>
            </a:bodyPr>
            <a:lstStyle/>
            <a:p>
              <a:pPr algn="just" marL="0" indent="0" lvl="0">
                <a:lnSpc>
                  <a:spcPts val="2284"/>
                </a:lnSpc>
              </a:pPr>
              <a:r>
                <a:rPr lang="en-US" b="true" sz="1631" spc="-40">
                  <a:gradFill>
                    <a:gsLst>
                      <a:gs pos="0">
                        <a:srgbClr val="FF5757">
                          <a:alpha val="100000"/>
                        </a:srgbClr>
                      </a:gs>
                      <a:gs pos="100000">
                        <a:srgbClr val="8C52FF">
                          <a:alpha val="100000"/>
                        </a:srgbClr>
                      </a:gs>
                    </a:gsLst>
                    <a:lin ang="0"/>
                  </a:gradFill>
                  <a:latin typeface="Poppins Bold"/>
                  <a:ea typeface="Poppins Bold"/>
                  <a:cs typeface="Poppins Bold"/>
                  <a:sym typeface="Poppins Bold"/>
                </a:rPr>
                <a:t>DATA-DRIVEN STRATEGIES TO MAXIMIZE CUSTOMER VALUE AND REVENUE</a:t>
              </a:r>
            </a:p>
          </p:txBody>
        </p:sp>
        <p:sp>
          <p:nvSpPr>
            <p:cNvPr name="Freeform 12" id="12"/>
            <p:cNvSpPr/>
            <p:nvPr/>
          </p:nvSpPr>
          <p:spPr>
            <a:xfrm flipH="false" flipV="false" rot="-8687136">
              <a:off x="8481990" y="263632"/>
              <a:ext cx="214153" cy="258866"/>
            </a:xfrm>
            <a:custGeom>
              <a:avLst/>
              <a:gdLst/>
              <a:ahLst/>
              <a:cxnLst/>
              <a:rect r="r" b="b" t="t" l="l"/>
              <a:pathLst>
                <a:path h="258866" w="214153">
                  <a:moveTo>
                    <a:pt x="0" y="0"/>
                  </a:moveTo>
                  <a:lnTo>
                    <a:pt x="214153" y="0"/>
                  </a:lnTo>
                  <a:lnTo>
                    <a:pt x="214153" y="258866"/>
                  </a:lnTo>
                  <a:lnTo>
                    <a:pt x="0" y="2588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13" id="13"/>
          <p:cNvGrpSpPr/>
          <p:nvPr/>
        </p:nvGrpSpPr>
        <p:grpSpPr>
          <a:xfrm rot="0">
            <a:off x="1664564" y="1504251"/>
            <a:ext cx="6376039" cy="1593100"/>
            <a:chOff x="0" y="0"/>
            <a:chExt cx="2754311" cy="688185"/>
          </a:xfrm>
        </p:grpSpPr>
        <p:sp>
          <p:nvSpPr>
            <p:cNvPr name="Freeform 14" id="14"/>
            <p:cNvSpPr/>
            <p:nvPr/>
          </p:nvSpPr>
          <p:spPr>
            <a:xfrm flipH="false" flipV="false" rot="0">
              <a:off x="0" y="0"/>
              <a:ext cx="2754311" cy="688185"/>
            </a:xfrm>
            <a:custGeom>
              <a:avLst/>
              <a:gdLst/>
              <a:ahLst/>
              <a:cxnLst/>
              <a:rect r="r" b="b" t="t" l="l"/>
              <a:pathLst>
                <a:path h="688185" w="2754311">
                  <a:moveTo>
                    <a:pt x="52211" y="0"/>
                  </a:moveTo>
                  <a:lnTo>
                    <a:pt x="2702100" y="0"/>
                  </a:lnTo>
                  <a:cubicBezTo>
                    <a:pt x="2715947" y="0"/>
                    <a:pt x="2729227" y="5501"/>
                    <a:pt x="2739019" y="15292"/>
                  </a:cubicBezTo>
                  <a:cubicBezTo>
                    <a:pt x="2748810" y="25084"/>
                    <a:pt x="2754311" y="38364"/>
                    <a:pt x="2754311" y="52211"/>
                  </a:cubicBezTo>
                  <a:lnTo>
                    <a:pt x="2754311" y="635973"/>
                  </a:lnTo>
                  <a:cubicBezTo>
                    <a:pt x="2754311" y="649820"/>
                    <a:pt x="2748810" y="663101"/>
                    <a:pt x="2739019" y="672892"/>
                  </a:cubicBezTo>
                  <a:cubicBezTo>
                    <a:pt x="2729227" y="682684"/>
                    <a:pt x="2715947" y="688185"/>
                    <a:pt x="2702100" y="688185"/>
                  </a:cubicBezTo>
                  <a:lnTo>
                    <a:pt x="52211" y="688185"/>
                  </a:lnTo>
                  <a:cubicBezTo>
                    <a:pt x="38364" y="688185"/>
                    <a:pt x="25084" y="682684"/>
                    <a:pt x="15292" y="672892"/>
                  </a:cubicBezTo>
                  <a:cubicBezTo>
                    <a:pt x="5501" y="663101"/>
                    <a:pt x="0" y="649820"/>
                    <a:pt x="0" y="635973"/>
                  </a:cubicBezTo>
                  <a:lnTo>
                    <a:pt x="0" y="52211"/>
                  </a:lnTo>
                  <a:cubicBezTo>
                    <a:pt x="0" y="38364"/>
                    <a:pt x="5501" y="25084"/>
                    <a:pt x="15292" y="15292"/>
                  </a:cubicBezTo>
                  <a:cubicBezTo>
                    <a:pt x="25084" y="5501"/>
                    <a:pt x="38364" y="0"/>
                    <a:pt x="52211" y="0"/>
                  </a:cubicBez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p:spPr>
        </p:sp>
        <p:sp>
          <p:nvSpPr>
            <p:cNvPr name="TextBox 15" id="15"/>
            <p:cNvSpPr txBox="true"/>
            <p:nvPr/>
          </p:nvSpPr>
          <p:spPr>
            <a:xfrm>
              <a:off x="0" y="-38100"/>
              <a:ext cx="2754311" cy="726285"/>
            </a:xfrm>
            <a:prstGeom prst="rect">
              <a:avLst/>
            </a:prstGeom>
          </p:spPr>
          <p:txBody>
            <a:bodyPr anchor="ctr" rtlCol="false" tIns="33379" lIns="33379" bIns="33379" rIns="33379"/>
            <a:lstStyle/>
            <a:p>
              <a:pPr algn="ctr" marL="0" indent="0" lvl="0">
                <a:lnSpc>
                  <a:spcPts val="2660"/>
                </a:lnSpc>
                <a:spcBef>
                  <a:spcPct val="0"/>
                </a:spcBef>
              </a:pPr>
            </a:p>
          </p:txBody>
        </p:sp>
      </p:grpSp>
      <p:grpSp>
        <p:nvGrpSpPr>
          <p:cNvPr name="Group 16" id="16"/>
          <p:cNvGrpSpPr/>
          <p:nvPr/>
        </p:nvGrpSpPr>
        <p:grpSpPr>
          <a:xfrm rot="0">
            <a:off x="1664564" y="3400724"/>
            <a:ext cx="6376039" cy="1593100"/>
            <a:chOff x="0" y="0"/>
            <a:chExt cx="2754311" cy="688185"/>
          </a:xfrm>
        </p:grpSpPr>
        <p:sp>
          <p:nvSpPr>
            <p:cNvPr name="Freeform 17" id="17"/>
            <p:cNvSpPr/>
            <p:nvPr/>
          </p:nvSpPr>
          <p:spPr>
            <a:xfrm flipH="false" flipV="false" rot="0">
              <a:off x="0" y="0"/>
              <a:ext cx="2754311" cy="688185"/>
            </a:xfrm>
            <a:custGeom>
              <a:avLst/>
              <a:gdLst/>
              <a:ahLst/>
              <a:cxnLst/>
              <a:rect r="r" b="b" t="t" l="l"/>
              <a:pathLst>
                <a:path h="688185" w="2754311">
                  <a:moveTo>
                    <a:pt x="52211" y="0"/>
                  </a:moveTo>
                  <a:lnTo>
                    <a:pt x="2702100" y="0"/>
                  </a:lnTo>
                  <a:cubicBezTo>
                    <a:pt x="2715947" y="0"/>
                    <a:pt x="2729227" y="5501"/>
                    <a:pt x="2739019" y="15292"/>
                  </a:cubicBezTo>
                  <a:cubicBezTo>
                    <a:pt x="2748810" y="25084"/>
                    <a:pt x="2754311" y="38364"/>
                    <a:pt x="2754311" y="52211"/>
                  </a:cubicBezTo>
                  <a:lnTo>
                    <a:pt x="2754311" y="635973"/>
                  </a:lnTo>
                  <a:cubicBezTo>
                    <a:pt x="2754311" y="649820"/>
                    <a:pt x="2748810" y="663101"/>
                    <a:pt x="2739019" y="672892"/>
                  </a:cubicBezTo>
                  <a:cubicBezTo>
                    <a:pt x="2729227" y="682684"/>
                    <a:pt x="2715947" y="688185"/>
                    <a:pt x="2702100" y="688185"/>
                  </a:cubicBezTo>
                  <a:lnTo>
                    <a:pt x="52211" y="688185"/>
                  </a:lnTo>
                  <a:cubicBezTo>
                    <a:pt x="38364" y="688185"/>
                    <a:pt x="25084" y="682684"/>
                    <a:pt x="15292" y="672892"/>
                  </a:cubicBezTo>
                  <a:cubicBezTo>
                    <a:pt x="5501" y="663101"/>
                    <a:pt x="0" y="649820"/>
                    <a:pt x="0" y="635973"/>
                  </a:cubicBezTo>
                  <a:lnTo>
                    <a:pt x="0" y="52211"/>
                  </a:lnTo>
                  <a:cubicBezTo>
                    <a:pt x="0" y="38364"/>
                    <a:pt x="5501" y="25084"/>
                    <a:pt x="15292" y="15292"/>
                  </a:cubicBezTo>
                  <a:cubicBezTo>
                    <a:pt x="25084" y="5501"/>
                    <a:pt x="38364" y="0"/>
                    <a:pt x="52211" y="0"/>
                  </a:cubicBezTo>
                  <a:close/>
                </a:path>
              </a:pathLst>
            </a:custGeom>
            <a:ln w="38100" cap="rnd">
              <a:gradFill>
                <a:gsLst>
                  <a:gs pos="0">
                    <a:srgbClr val="3A58E4">
                      <a:alpha val="100000"/>
                    </a:srgbClr>
                  </a:gs>
                  <a:gs pos="100000">
                    <a:srgbClr val="293E9C">
                      <a:alpha val="100000"/>
                    </a:srgbClr>
                  </a:gs>
                </a:gsLst>
                <a:path path="circle">
                  <a:fillToRect l="0" r="100000" t="0" b="100000"/>
                </a:path>
                <a:tileRect r="0" l="-100000" b="0" t="-100000"/>
              </a:gradFill>
              <a:prstDash val="solid"/>
              <a:round/>
            </a:ln>
          </p:spPr>
        </p:sp>
        <p:sp>
          <p:nvSpPr>
            <p:cNvPr name="TextBox 18" id="18"/>
            <p:cNvSpPr txBox="true"/>
            <p:nvPr/>
          </p:nvSpPr>
          <p:spPr>
            <a:xfrm>
              <a:off x="0" y="-38100"/>
              <a:ext cx="2754311" cy="726285"/>
            </a:xfrm>
            <a:prstGeom prst="rect">
              <a:avLst/>
            </a:prstGeom>
          </p:spPr>
          <p:txBody>
            <a:bodyPr anchor="ctr" rtlCol="false" tIns="33379" lIns="33379" bIns="33379" rIns="33379"/>
            <a:lstStyle/>
            <a:p>
              <a:pPr algn="ctr" marL="0" indent="0" lvl="0">
                <a:lnSpc>
                  <a:spcPts val="2660"/>
                </a:lnSpc>
                <a:spcBef>
                  <a:spcPct val="0"/>
                </a:spcBef>
              </a:pPr>
            </a:p>
          </p:txBody>
        </p:sp>
      </p:grpSp>
      <p:grpSp>
        <p:nvGrpSpPr>
          <p:cNvPr name="Group 19" id="19"/>
          <p:cNvGrpSpPr/>
          <p:nvPr/>
        </p:nvGrpSpPr>
        <p:grpSpPr>
          <a:xfrm rot="0">
            <a:off x="1664564" y="5293177"/>
            <a:ext cx="6376039" cy="1593100"/>
            <a:chOff x="0" y="0"/>
            <a:chExt cx="2754311" cy="688185"/>
          </a:xfrm>
        </p:grpSpPr>
        <p:sp>
          <p:nvSpPr>
            <p:cNvPr name="Freeform 20" id="20"/>
            <p:cNvSpPr/>
            <p:nvPr/>
          </p:nvSpPr>
          <p:spPr>
            <a:xfrm flipH="false" flipV="false" rot="0">
              <a:off x="0" y="0"/>
              <a:ext cx="2754311" cy="688185"/>
            </a:xfrm>
            <a:custGeom>
              <a:avLst/>
              <a:gdLst/>
              <a:ahLst/>
              <a:cxnLst/>
              <a:rect r="r" b="b" t="t" l="l"/>
              <a:pathLst>
                <a:path h="688185" w="2754311">
                  <a:moveTo>
                    <a:pt x="52211" y="0"/>
                  </a:moveTo>
                  <a:lnTo>
                    <a:pt x="2702100" y="0"/>
                  </a:lnTo>
                  <a:cubicBezTo>
                    <a:pt x="2715947" y="0"/>
                    <a:pt x="2729227" y="5501"/>
                    <a:pt x="2739019" y="15292"/>
                  </a:cubicBezTo>
                  <a:cubicBezTo>
                    <a:pt x="2748810" y="25084"/>
                    <a:pt x="2754311" y="38364"/>
                    <a:pt x="2754311" y="52211"/>
                  </a:cubicBezTo>
                  <a:lnTo>
                    <a:pt x="2754311" y="635973"/>
                  </a:lnTo>
                  <a:cubicBezTo>
                    <a:pt x="2754311" y="649820"/>
                    <a:pt x="2748810" y="663101"/>
                    <a:pt x="2739019" y="672892"/>
                  </a:cubicBezTo>
                  <a:cubicBezTo>
                    <a:pt x="2729227" y="682684"/>
                    <a:pt x="2715947" y="688185"/>
                    <a:pt x="2702100" y="688185"/>
                  </a:cubicBezTo>
                  <a:lnTo>
                    <a:pt x="52211" y="688185"/>
                  </a:lnTo>
                  <a:cubicBezTo>
                    <a:pt x="38364" y="688185"/>
                    <a:pt x="25084" y="682684"/>
                    <a:pt x="15292" y="672892"/>
                  </a:cubicBezTo>
                  <a:cubicBezTo>
                    <a:pt x="5501" y="663101"/>
                    <a:pt x="0" y="649820"/>
                    <a:pt x="0" y="635973"/>
                  </a:cubicBezTo>
                  <a:lnTo>
                    <a:pt x="0" y="52211"/>
                  </a:lnTo>
                  <a:cubicBezTo>
                    <a:pt x="0" y="38364"/>
                    <a:pt x="5501" y="25084"/>
                    <a:pt x="15292" y="15292"/>
                  </a:cubicBezTo>
                  <a:cubicBezTo>
                    <a:pt x="25084" y="5501"/>
                    <a:pt x="38364" y="0"/>
                    <a:pt x="52211" y="0"/>
                  </a:cubicBez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p:spPr>
        </p:sp>
        <p:sp>
          <p:nvSpPr>
            <p:cNvPr name="TextBox 21" id="21"/>
            <p:cNvSpPr txBox="true"/>
            <p:nvPr/>
          </p:nvSpPr>
          <p:spPr>
            <a:xfrm>
              <a:off x="0" y="-38100"/>
              <a:ext cx="2754311" cy="726285"/>
            </a:xfrm>
            <a:prstGeom prst="rect">
              <a:avLst/>
            </a:prstGeom>
          </p:spPr>
          <p:txBody>
            <a:bodyPr anchor="ctr" rtlCol="false" tIns="33379" lIns="33379" bIns="33379" rIns="33379"/>
            <a:lstStyle/>
            <a:p>
              <a:pPr algn="ctr" marL="0" indent="0" lvl="0">
                <a:lnSpc>
                  <a:spcPts val="2660"/>
                </a:lnSpc>
                <a:spcBef>
                  <a:spcPct val="0"/>
                </a:spcBef>
              </a:pPr>
            </a:p>
          </p:txBody>
        </p:sp>
      </p:grpSp>
      <p:grpSp>
        <p:nvGrpSpPr>
          <p:cNvPr name="Group 22" id="22"/>
          <p:cNvGrpSpPr/>
          <p:nvPr/>
        </p:nvGrpSpPr>
        <p:grpSpPr>
          <a:xfrm rot="0">
            <a:off x="1664564" y="7189649"/>
            <a:ext cx="6376039" cy="1593100"/>
            <a:chOff x="0" y="0"/>
            <a:chExt cx="2754311" cy="688185"/>
          </a:xfrm>
        </p:grpSpPr>
        <p:sp>
          <p:nvSpPr>
            <p:cNvPr name="Freeform 23" id="23"/>
            <p:cNvSpPr/>
            <p:nvPr/>
          </p:nvSpPr>
          <p:spPr>
            <a:xfrm flipH="false" flipV="false" rot="0">
              <a:off x="0" y="0"/>
              <a:ext cx="2754311" cy="688185"/>
            </a:xfrm>
            <a:custGeom>
              <a:avLst/>
              <a:gdLst/>
              <a:ahLst/>
              <a:cxnLst/>
              <a:rect r="r" b="b" t="t" l="l"/>
              <a:pathLst>
                <a:path h="688185" w="2754311">
                  <a:moveTo>
                    <a:pt x="52211" y="0"/>
                  </a:moveTo>
                  <a:lnTo>
                    <a:pt x="2702100" y="0"/>
                  </a:lnTo>
                  <a:cubicBezTo>
                    <a:pt x="2715947" y="0"/>
                    <a:pt x="2729227" y="5501"/>
                    <a:pt x="2739019" y="15292"/>
                  </a:cubicBezTo>
                  <a:cubicBezTo>
                    <a:pt x="2748810" y="25084"/>
                    <a:pt x="2754311" y="38364"/>
                    <a:pt x="2754311" y="52211"/>
                  </a:cubicBezTo>
                  <a:lnTo>
                    <a:pt x="2754311" y="635973"/>
                  </a:lnTo>
                  <a:cubicBezTo>
                    <a:pt x="2754311" y="649820"/>
                    <a:pt x="2748810" y="663101"/>
                    <a:pt x="2739019" y="672892"/>
                  </a:cubicBezTo>
                  <a:cubicBezTo>
                    <a:pt x="2729227" y="682684"/>
                    <a:pt x="2715947" y="688185"/>
                    <a:pt x="2702100" y="688185"/>
                  </a:cubicBezTo>
                  <a:lnTo>
                    <a:pt x="52211" y="688185"/>
                  </a:lnTo>
                  <a:cubicBezTo>
                    <a:pt x="38364" y="688185"/>
                    <a:pt x="25084" y="682684"/>
                    <a:pt x="15292" y="672892"/>
                  </a:cubicBezTo>
                  <a:cubicBezTo>
                    <a:pt x="5501" y="663101"/>
                    <a:pt x="0" y="649820"/>
                    <a:pt x="0" y="635973"/>
                  </a:cubicBezTo>
                  <a:lnTo>
                    <a:pt x="0" y="52211"/>
                  </a:lnTo>
                  <a:cubicBezTo>
                    <a:pt x="0" y="38364"/>
                    <a:pt x="5501" y="25084"/>
                    <a:pt x="15292" y="15292"/>
                  </a:cubicBezTo>
                  <a:cubicBezTo>
                    <a:pt x="25084" y="5501"/>
                    <a:pt x="38364" y="0"/>
                    <a:pt x="52211" y="0"/>
                  </a:cubicBezTo>
                  <a:close/>
                </a:path>
              </a:pathLst>
            </a:custGeom>
            <a:ln w="38100" cap="rnd">
              <a:gradFill>
                <a:gsLst>
                  <a:gs pos="0">
                    <a:srgbClr val="3A58E4">
                      <a:alpha val="100000"/>
                    </a:srgbClr>
                  </a:gs>
                  <a:gs pos="100000">
                    <a:srgbClr val="293E9C">
                      <a:alpha val="100000"/>
                    </a:srgbClr>
                  </a:gs>
                </a:gsLst>
                <a:path path="circle">
                  <a:fillToRect l="0" r="100000" t="0" b="100000"/>
                </a:path>
                <a:tileRect r="0" l="-100000" b="0" t="-100000"/>
              </a:gradFill>
              <a:prstDash val="solid"/>
              <a:round/>
            </a:ln>
          </p:spPr>
        </p:sp>
        <p:sp>
          <p:nvSpPr>
            <p:cNvPr name="TextBox 24" id="24"/>
            <p:cNvSpPr txBox="true"/>
            <p:nvPr/>
          </p:nvSpPr>
          <p:spPr>
            <a:xfrm>
              <a:off x="0" y="-38100"/>
              <a:ext cx="2754311" cy="726285"/>
            </a:xfrm>
            <a:prstGeom prst="rect">
              <a:avLst/>
            </a:prstGeom>
          </p:spPr>
          <p:txBody>
            <a:bodyPr anchor="ctr" rtlCol="false" tIns="33379" lIns="33379" bIns="33379" rIns="33379"/>
            <a:lstStyle/>
            <a:p>
              <a:pPr algn="ctr" marL="0" indent="0" lvl="0">
                <a:lnSpc>
                  <a:spcPts val="2660"/>
                </a:lnSpc>
                <a:spcBef>
                  <a:spcPct val="0"/>
                </a:spcBef>
              </a:pPr>
            </a:p>
          </p:txBody>
        </p:sp>
      </p:grpSp>
      <p:sp>
        <p:nvSpPr>
          <p:cNvPr name="Freeform 25" id="25"/>
          <p:cNvSpPr/>
          <p:nvPr/>
        </p:nvSpPr>
        <p:spPr>
          <a:xfrm flipH="false" flipV="false" rot="0">
            <a:off x="13027814" y="654109"/>
            <a:ext cx="2994931" cy="2085561"/>
          </a:xfrm>
          <a:custGeom>
            <a:avLst/>
            <a:gdLst/>
            <a:ahLst/>
            <a:cxnLst/>
            <a:rect r="r" b="b" t="t" l="l"/>
            <a:pathLst>
              <a:path h="2085561" w="2994931">
                <a:moveTo>
                  <a:pt x="0" y="0"/>
                </a:moveTo>
                <a:lnTo>
                  <a:pt x="2994931" y="0"/>
                </a:lnTo>
                <a:lnTo>
                  <a:pt x="2994931" y="2085561"/>
                </a:lnTo>
                <a:lnTo>
                  <a:pt x="0" y="208556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6" id="26"/>
          <p:cNvSpPr txBox="true"/>
          <p:nvPr/>
        </p:nvSpPr>
        <p:spPr>
          <a:xfrm rot="0">
            <a:off x="9144000" y="5244986"/>
            <a:ext cx="6563388" cy="3537762"/>
          </a:xfrm>
          <a:prstGeom prst="rect">
            <a:avLst/>
          </a:prstGeom>
        </p:spPr>
        <p:txBody>
          <a:bodyPr anchor="t" rtlCol="false" tIns="0" lIns="0" bIns="0" rIns="0">
            <a:spAutoFit/>
          </a:bodyPr>
          <a:lstStyle/>
          <a:p>
            <a:pPr algn="just" marL="0" indent="0" lvl="0">
              <a:lnSpc>
                <a:spcPts val="2554"/>
              </a:lnSpc>
            </a:pPr>
            <a:r>
              <a:rPr lang="en-US" sz="1824" spc="-5">
                <a:solidFill>
                  <a:srgbClr val="3A58E4"/>
                </a:solidFill>
                <a:latin typeface="Poppins"/>
                <a:ea typeface="Poppins"/>
                <a:cs typeface="Poppins"/>
                <a:sym typeface="Poppins"/>
              </a:rPr>
              <a:t>These strategic recommendations are derived from comprehensive analysis of 3,900 customer transactions. By focusing on subscription growth, loyalty retention, margin optimization, and targeted marketing, businesses can significantly improve customer lifetime value. Additionally, highlighting top-rated products like Gloves (3.86), Sandals (3.84), and Boots (3.82) in marketing campaigns can drive conversions. The Young Adult segment represents the highest revenue potential, making them a priority for personalized engagement strategies.</a:t>
            </a:r>
          </a:p>
        </p:txBody>
      </p:sp>
      <p:sp>
        <p:nvSpPr>
          <p:cNvPr name="TextBox 27" id="27"/>
          <p:cNvSpPr txBox="true"/>
          <p:nvPr/>
        </p:nvSpPr>
        <p:spPr>
          <a:xfrm rot="0">
            <a:off x="9360548" y="1964118"/>
            <a:ext cx="7334532" cy="1764046"/>
          </a:xfrm>
          <a:prstGeom prst="rect">
            <a:avLst/>
          </a:prstGeom>
        </p:spPr>
        <p:txBody>
          <a:bodyPr anchor="t" rtlCol="false" tIns="0" lIns="0" bIns="0" rIns="0">
            <a:spAutoFit/>
          </a:bodyPr>
          <a:lstStyle/>
          <a:p>
            <a:pPr algn="l" marL="0" indent="0" lvl="0">
              <a:lnSpc>
                <a:spcPts val="6782"/>
              </a:lnSpc>
            </a:pPr>
            <a:r>
              <a:rPr lang="en-US" sz="6921" spc="-442">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Business Recommendations</a:t>
            </a:r>
          </a:p>
        </p:txBody>
      </p:sp>
      <p:grpSp>
        <p:nvGrpSpPr>
          <p:cNvPr name="Group 28" id="28"/>
          <p:cNvGrpSpPr/>
          <p:nvPr/>
        </p:nvGrpSpPr>
        <p:grpSpPr>
          <a:xfrm rot="0">
            <a:off x="2288087" y="1821243"/>
            <a:ext cx="5128994" cy="888150"/>
            <a:chOff x="0" y="0"/>
            <a:chExt cx="6838659" cy="1184200"/>
          </a:xfrm>
        </p:grpSpPr>
        <p:sp>
          <p:nvSpPr>
            <p:cNvPr name="TextBox 29" id="29"/>
            <p:cNvSpPr txBox="true"/>
            <p:nvPr/>
          </p:nvSpPr>
          <p:spPr>
            <a:xfrm rot="0">
              <a:off x="1589864" y="-66675"/>
              <a:ext cx="4202931" cy="383801"/>
            </a:xfrm>
            <a:prstGeom prst="rect">
              <a:avLst/>
            </a:prstGeom>
          </p:spPr>
          <p:txBody>
            <a:bodyPr anchor="t" rtlCol="false" tIns="0" lIns="0" bIns="0" rIns="0">
              <a:spAutoFit/>
            </a:bodyPr>
            <a:lstStyle/>
            <a:p>
              <a:pPr algn="just" marL="0" indent="0" lvl="0">
                <a:lnSpc>
                  <a:spcPts val="2415"/>
                </a:lnSpc>
              </a:pPr>
              <a:r>
                <a:rPr lang="en-US" b="true" sz="1589">
                  <a:solidFill>
                    <a:srgbClr val="FFFFFF"/>
                  </a:solidFill>
                  <a:latin typeface="Poppins Bold"/>
                  <a:ea typeface="Poppins Bold"/>
                  <a:cs typeface="Poppins Bold"/>
                  <a:sym typeface="Poppins Bold"/>
                </a:rPr>
                <a:t>Subscription Programs</a:t>
              </a:r>
            </a:p>
          </p:txBody>
        </p:sp>
        <p:sp>
          <p:nvSpPr>
            <p:cNvPr name="TextBox 30" id="30"/>
            <p:cNvSpPr txBox="true"/>
            <p:nvPr/>
          </p:nvSpPr>
          <p:spPr>
            <a:xfrm rot="0">
              <a:off x="1589864" y="525080"/>
              <a:ext cx="5248795" cy="659120"/>
            </a:xfrm>
            <a:prstGeom prst="rect">
              <a:avLst/>
            </a:prstGeom>
          </p:spPr>
          <p:txBody>
            <a:bodyPr anchor="t" rtlCol="false" tIns="0" lIns="0" bIns="0" rIns="0">
              <a:spAutoFit/>
            </a:bodyPr>
            <a:lstStyle/>
            <a:p>
              <a:pPr algn="just" marL="0" indent="0" lvl="0">
                <a:lnSpc>
                  <a:spcPts val="1998"/>
                </a:lnSpc>
              </a:pPr>
              <a:r>
                <a:rPr lang="en-US" sz="1427">
                  <a:solidFill>
                    <a:srgbClr val="FFFFFF"/>
                  </a:solidFill>
                  <a:latin typeface="Poppins"/>
                  <a:ea typeface="Poppins"/>
                  <a:cs typeface="Poppins"/>
                  <a:sym typeface="Poppins"/>
                </a:rPr>
                <a:t>Boost subscription adoption with exclusive benefits and early access offers.</a:t>
              </a:r>
            </a:p>
          </p:txBody>
        </p:sp>
        <p:sp>
          <p:nvSpPr>
            <p:cNvPr name="TextBox 31" id="31"/>
            <p:cNvSpPr txBox="true"/>
            <p:nvPr/>
          </p:nvSpPr>
          <p:spPr>
            <a:xfrm rot="0">
              <a:off x="0" y="216190"/>
              <a:ext cx="1165955" cy="905126"/>
            </a:xfrm>
            <a:prstGeom prst="rect">
              <a:avLst/>
            </a:prstGeom>
          </p:spPr>
          <p:txBody>
            <a:bodyPr anchor="t" rtlCol="false" tIns="0" lIns="0" bIns="0" rIns="0">
              <a:spAutoFit/>
            </a:bodyPr>
            <a:lstStyle/>
            <a:p>
              <a:pPr algn="l" marL="0" indent="0" lvl="0">
                <a:lnSpc>
                  <a:spcPts val="4448"/>
                </a:lnSpc>
              </a:pPr>
              <a:r>
                <a:rPr lang="en-US" sz="4942" spc="-148">
                  <a:solidFill>
                    <a:srgbClr val="FFFFFF"/>
                  </a:solidFill>
                  <a:latin typeface="Poppins"/>
                  <a:ea typeface="Poppins"/>
                  <a:cs typeface="Poppins"/>
                  <a:sym typeface="Poppins"/>
                </a:rPr>
                <a:t>01</a:t>
              </a:r>
            </a:p>
          </p:txBody>
        </p:sp>
      </p:grpSp>
      <p:grpSp>
        <p:nvGrpSpPr>
          <p:cNvPr name="Group 32" id="32"/>
          <p:cNvGrpSpPr/>
          <p:nvPr/>
        </p:nvGrpSpPr>
        <p:grpSpPr>
          <a:xfrm rot="0">
            <a:off x="2288087" y="3734859"/>
            <a:ext cx="5128994" cy="888351"/>
            <a:chOff x="0" y="0"/>
            <a:chExt cx="6838659" cy="1184468"/>
          </a:xfrm>
        </p:grpSpPr>
        <p:sp>
          <p:nvSpPr>
            <p:cNvPr name="TextBox 33" id="33"/>
            <p:cNvSpPr txBox="true"/>
            <p:nvPr/>
          </p:nvSpPr>
          <p:spPr>
            <a:xfrm rot="0">
              <a:off x="1589864" y="-66675"/>
              <a:ext cx="4202931" cy="383801"/>
            </a:xfrm>
            <a:prstGeom prst="rect">
              <a:avLst/>
            </a:prstGeom>
          </p:spPr>
          <p:txBody>
            <a:bodyPr anchor="t" rtlCol="false" tIns="0" lIns="0" bIns="0" rIns="0">
              <a:spAutoFit/>
            </a:bodyPr>
            <a:lstStyle/>
            <a:p>
              <a:pPr algn="just" marL="0" indent="0" lvl="0">
                <a:lnSpc>
                  <a:spcPts val="2415"/>
                </a:lnSpc>
              </a:pPr>
              <a:r>
                <a:rPr lang="en-US" b="true" sz="1589">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Loyalty Programs</a:t>
              </a:r>
            </a:p>
          </p:txBody>
        </p:sp>
        <p:sp>
          <p:nvSpPr>
            <p:cNvPr name="TextBox 34" id="34"/>
            <p:cNvSpPr txBox="true"/>
            <p:nvPr/>
          </p:nvSpPr>
          <p:spPr>
            <a:xfrm rot="0">
              <a:off x="1589864" y="534605"/>
              <a:ext cx="5248795" cy="649863"/>
            </a:xfrm>
            <a:prstGeom prst="rect">
              <a:avLst/>
            </a:prstGeom>
          </p:spPr>
          <p:txBody>
            <a:bodyPr anchor="t" rtlCol="false" tIns="0" lIns="0" bIns="0" rIns="0">
              <a:spAutoFit/>
            </a:bodyPr>
            <a:lstStyle/>
            <a:p>
              <a:pPr algn="just" marL="0" indent="0" lvl="0">
                <a:lnSpc>
                  <a:spcPts val="2010"/>
                </a:lnSpc>
              </a:pPr>
              <a:r>
                <a:rPr lang="en-US" sz="1436">
                  <a:gradFill>
                    <a:gsLst>
                      <a:gs pos="0">
                        <a:srgbClr val="3A58E4">
                          <a:alpha val="100000"/>
                        </a:srgbClr>
                      </a:gs>
                      <a:gs pos="100000">
                        <a:srgbClr val="293E9C">
                          <a:alpha val="100000"/>
                        </a:srgbClr>
                      </a:gs>
                    </a:gsLst>
                    <a:path path="circle">
                      <a:fillToRect l="0" r="100000" t="0" b="100000"/>
                    </a:path>
                    <a:tileRect r="0" l="-100000" b="0" t="-100000"/>
                  </a:gradFill>
                  <a:latin typeface="Poppins"/>
                  <a:ea typeface="Poppins"/>
                  <a:cs typeface="Poppins"/>
                  <a:sym typeface="Poppins"/>
                </a:rPr>
                <a:t>Implement tiered loyalty rewards for repeat customers (97.87% of base).</a:t>
              </a:r>
            </a:p>
          </p:txBody>
        </p:sp>
        <p:sp>
          <p:nvSpPr>
            <p:cNvPr name="TextBox 35" id="35"/>
            <p:cNvSpPr txBox="true"/>
            <p:nvPr/>
          </p:nvSpPr>
          <p:spPr>
            <a:xfrm rot="0">
              <a:off x="0" y="180024"/>
              <a:ext cx="1165955" cy="905126"/>
            </a:xfrm>
            <a:prstGeom prst="rect">
              <a:avLst/>
            </a:prstGeom>
          </p:spPr>
          <p:txBody>
            <a:bodyPr anchor="t" rtlCol="false" tIns="0" lIns="0" bIns="0" rIns="0">
              <a:spAutoFit/>
            </a:bodyPr>
            <a:lstStyle/>
            <a:p>
              <a:pPr algn="l" marL="0" indent="0" lvl="0">
                <a:lnSpc>
                  <a:spcPts val="4448"/>
                </a:lnSpc>
              </a:pPr>
              <a:r>
                <a:rPr lang="en-US" sz="4942" spc="-148">
                  <a:gradFill>
                    <a:gsLst>
                      <a:gs pos="0">
                        <a:srgbClr val="3A58E4">
                          <a:alpha val="100000"/>
                        </a:srgbClr>
                      </a:gs>
                      <a:gs pos="100000">
                        <a:srgbClr val="293E9C">
                          <a:alpha val="100000"/>
                        </a:srgbClr>
                      </a:gs>
                    </a:gsLst>
                    <a:path path="circle">
                      <a:fillToRect l="0" r="100000" t="0" b="100000"/>
                    </a:path>
                    <a:tileRect r="0" l="-100000" b="0" t="-100000"/>
                  </a:gradFill>
                  <a:latin typeface="Poppins"/>
                  <a:ea typeface="Poppins"/>
                  <a:cs typeface="Poppins"/>
                  <a:sym typeface="Poppins"/>
                </a:rPr>
                <a:t>02</a:t>
              </a:r>
            </a:p>
          </p:txBody>
        </p:sp>
      </p:grpSp>
      <p:grpSp>
        <p:nvGrpSpPr>
          <p:cNvPr name="Group 36" id="36"/>
          <p:cNvGrpSpPr/>
          <p:nvPr/>
        </p:nvGrpSpPr>
        <p:grpSpPr>
          <a:xfrm rot="0">
            <a:off x="2288087" y="5639303"/>
            <a:ext cx="5128994" cy="888150"/>
            <a:chOff x="0" y="0"/>
            <a:chExt cx="6838659" cy="1184200"/>
          </a:xfrm>
        </p:grpSpPr>
        <p:sp>
          <p:nvSpPr>
            <p:cNvPr name="TextBox 37" id="37"/>
            <p:cNvSpPr txBox="true"/>
            <p:nvPr/>
          </p:nvSpPr>
          <p:spPr>
            <a:xfrm rot="0">
              <a:off x="1589864" y="-66675"/>
              <a:ext cx="4202931" cy="383801"/>
            </a:xfrm>
            <a:prstGeom prst="rect">
              <a:avLst/>
            </a:prstGeom>
          </p:spPr>
          <p:txBody>
            <a:bodyPr anchor="t" rtlCol="false" tIns="0" lIns="0" bIns="0" rIns="0">
              <a:spAutoFit/>
            </a:bodyPr>
            <a:lstStyle/>
            <a:p>
              <a:pPr algn="just" marL="0" indent="0" lvl="0">
                <a:lnSpc>
                  <a:spcPts val="2415"/>
                </a:lnSpc>
              </a:pPr>
              <a:r>
                <a:rPr lang="en-US" b="true" sz="1589">
                  <a:solidFill>
                    <a:srgbClr val="FFFFFF"/>
                  </a:solidFill>
                  <a:latin typeface="Poppins Bold"/>
                  <a:ea typeface="Poppins Bold"/>
                  <a:cs typeface="Poppins Bold"/>
                  <a:sym typeface="Poppins Bold"/>
                </a:rPr>
                <a:t>Discount Strategy</a:t>
              </a:r>
            </a:p>
          </p:txBody>
        </p:sp>
        <p:sp>
          <p:nvSpPr>
            <p:cNvPr name="TextBox 38" id="38"/>
            <p:cNvSpPr txBox="true"/>
            <p:nvPr/>
          </p:nvSpPr>
          <p:spPr>
            <a:xfrm rot="0">
              <a:off x="1589864" y="525080"/>
              <a:ext cx="5248795" cy="659120"/>
            </a:xfrm>
            <a:prstGeom prst="rect">
              <a:avLst/>
            </a:prstGeom>
          </p:spPr>
          <p:txBody>
            <a:bodyPr anchor="t" rtlCol="false" tIns="0" lIns="0" bIns="0" rIns="0">
              <a:spAutoFit/>
            </a:bodyPr>
            <a:lstStyle/>
            <a:p>
              <a:pPr algn="just" marL="0" indent="0" lvl="0">
                <a:lnSpc>
                  <a:spcPts val="1998"/>
                </a:lnSpc>
              </a:pPr>
              <a:r>
                <a:rPr lang="en-US" sz="1427">
                  <a:solidFill>
                    <a:srgbClr val="FFFFFF"/>
                  </a:solidFill>
                  <a:latin typeface="Poppins"/>
                  <a:ea typeface="Poppins"/>
                  <a:cs typeface="Poppins"/>
                  <a:sym typeface="Poppins"/>
                </a:rPr>
                <a:t>Review discount policy to improve margins; some products exceed 49% discount rate.</a:t>
              </a:r>
            </a:p>
          </p:txBody>
        </p:sp>
        <p:sp>
          <p:nvSpPr>
            <p:cNvPr name="TextBox 39" id="39"/>
            <p:cNvSpPr txBox="true"/>
            <p:nvPr/>
          </p:nvSpPr>
          <p:spPr>
            <a:xfrm rot="0">
              <a:off x="0" y="222250"/>
              <a:ext cx="1165955" cy="905126"/>
            </a:xfrm>
            <a:prstGeom prst="rect">
              <a:avLst/>
            </a:prstGeom>
          </p:spPr>
          <p:txBody>
            <a:bodyPr anchor="t" rtlCol="false" tIns="0" lIns="0" bIns="0" rIns="0">
              <a:spAutoFit/>
            </a:bodyPr>
            <a:lstStyle/>
            <a:p>
              <a:pPr algn="l" marL="0" indent="0" lvl="0">
                <a:lnSpc>
                  <a:spcPts val="4448"/>
                </a:lnSpc>
              </a:pPr>
              <a:r>
                <a:rPr lang="en-US" sz="4942" spc="-148">
                  <a:solidFill>
                    <a:srgbClr val="FFFFFF"/>
                  </a:solidFill>
                  <a:latin typeface="Poppins"/>
                  <a:ea typeface="Poppins"/>
                  <a:cs typeface="Poppins"/>
                  <a:sym typeface="Poppins"/>
                </a:rPr>
                <a:t>03</a:t>
              </a:r>
            </a:p>
          </p:txBody>
        </p:sp>
      </p:grpSp>
      <p:grpSp>
        <p:nvGrpSpPr>
          <p:cNvPr name="Group 40" id="40"/>
          <p:cNvGrpSpPr/>
          <p:nvPr/>
        </p:nvGrpSpPr>
        <p:grpSpPr>
          <a:xfrm rot="0">
            <a:off x="2288087" y="7532526"/>
            <a:ext cx="5128994" cy="888150"/>
            <a:chOff x="0" y="0"/>
            <a:chExt cx="6838659" cy="1184200"/>
          </a:xfrm>
        </p:grpSpPr>
        <p:sp>
          <p:nvSpPr>
            <p:cNvPr name="TextBox 41" id="41"/>
            <p:cNvSpPr txBox="true"/>
            <p:nvPr/>
          </p:nvSpPr>
          <p:spPr>
            <a:xfrm rot="0">
              <a:off x="1589864" y="-66675"/>
              <a:ext cx="4202931" cy="383801"/>
            </a:xfrm>
            <a:prstGeom prst="rect">
              <a:avLst/>
            </a:prstGeom>
          </p:spPr>
          <p:txBody>
            <a:bodyPr anchor="t" rtlCol="false" tIns="0" lIns="0" bIns="0" rIns="0">
              <a:spAutoFit/>
            </a:bodyPr>
            <a:lstStyle/>
            <a:p>
              <a:pPr algn="just" marL="0" indent="0" lvl="0">
                <a:lnSpc>
                  <a:spcPts val="2415"/>
                </a:lnSpc>
              </a:pPr>
              <a:r>
                <a:rPr lang="en-US" b="true" sz="1589">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Target Marketing</a:t>
              </a:r>
            </a:p>
          </p:txBody>
        </p:sp>
        <p:sp>
          <p:nvSpPr>
            <p:cNvPr name="TextBox 42" id="42"/>
            <p:cNvSpPr txBox="true"/>
            <p:nvPr/>
          </p:nvSpPr>
          <p:spPr>
            <a:xfrm rot="0">
              <a:off x="1589864" y="525080"/>
              <a:ext cx="5248795" cy="659120"/>
            </a:xfrm>
            <a:prstGeom prst="rect">
              <a:avLst/>
            </a:prstGeom>
          </p:spPr>
          <p:txBody>
            <a:bodyPr anchor="t" rtlCol="false" tIns="0" lIns="0" bIns="0" rIns="0">
              <a:spAutoFit/>
            </a:bodyPr>
            <a:lstStyle/>
            <a:p>
              <a:pPr algn="just" marL="0" indent="0" lvl="0">
                <a:lnSpc>
                  <a:spcPts val="1998"/>
                </a:lnSpc>
              </a:pPr>
              <a:r>
                <a:rPr lang="en-US" sz="1427">
                  <a:gradFill>
                    <a:gsLst>
                      <a:gs pos="0">
                        <a:srgbClr val="3A58E4">
                          <a:alpha val="100000"/>
                        </a:srgbClr>
                      </a:gs>
                      <a:gs pos="100000">
                        <a:srgbClr val="293E9C">
                          <a:alpha val="100000"/>
                        </a:srgbClr>
                      </a:gs>
                    </a:gsLst>
                    <a:path path="circle">
                      <a:fillToRect l="0" r="100000" t="0" b="100000"/>
                    </a:path>
                    <a:tileRect r="0" l="-100000" b="0" t="-100000"/>
                  </a:gradFill>
                  <a:latin typeface="Poppins"/>
                  <a:ea typeface="Poppins"/>
                  <a:cs typeface="Poppins"/>
                  <a:sym typeface="Poppins"/>
                </a:rPr>
                <a:t>Focus campaigns on high-revenue Young Adult segment for maximum ROI.</a:t>
              </a:r>
            </a:p>
          </p:txBody>
        </p:sp>
        <p:sp>
          <p:nvSpPr>
            <p:cNvPr name="TextBox 43" id="43"/>
            <p:cNvSpPr txBox="true"/>
            <p:nvPr/>
          </p:nvSpPr>
          <p:spPr>
            <a:xfrm rot="0">
              <a:off x="0" y="186084"/>
              <a:ext cx="1165955" cy="905126"/>
            </a:xfrm>
            <a:prstGeom prst="rect">
              <a:avLst/>
            </a:prstGeom>
          </p:spPr>
          <p:txBody>
            <a:bodyPr anchor="t" rtlCol="false" tIns="0" lIns="0" bIns="0" rIns="0">
              <a:spAutoFit/>
            </a:bodyPr>
            <a:lstStyle/>
            <a:p>
              <a:pPr algn="l" marL="0" indent="0" lvl="0">
                <a:lnSpc>
                  <a:spcPts val="4448"/>
                </a:lnSpc>
              </a:pPr>
              <a:r>
                <a:rPr lang="en-US" sz="4942" spc="-148">
                  <a:gradFill>
                    <a:gsLst>
                      <a:gs pos="0">
                        <a:srgbClr val="3A58E4">
                          <a:alpha val="100000"/>
                        </a:srgbClr>
                      </a:gs>
                      <a:gs pos="100000">
                        <a:srgbClr val="293E9C">
                          <a:alpha val="100000"/>
                        </a:srgbClr>
                      </a:gs>
                    </a:gsLst>
                    <a:path path="circle">
                      <a:fillToRect l="0" r="100000" t="0" b="100000"/>
                    </a:path>
                    <a:tileRect r="0" l="-100000" b="0" t="-100000"/>
                  </a:gradFill>
                  <a:latin typeface="Poppins"/>
                  <a:ea typeface="Poppins"/>
                  <a:cs typeface="Poppins"/>
                  <a:sym typeface="Poppins"/>
                </a:rPr>
                <a:t>04</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DAHK-VSDrpc</dc:identifier>
  <dcterms:modified xsi:type="dcterms:W3CDTF">2011-08-01T06:04:30Z</dcterms:modified>
  <cp:revision>1</cp:revision>
  <dc:title>Customer Loyalty Analytics Blueprint</dc:title>
</cp:coreProperties>
</file>